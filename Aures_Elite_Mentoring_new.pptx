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10"/>
  </p:normalViewPr>
  <p:slideViewPr>
    <p:cSldViewPr snapToGrid="0" snapToObjects="1">
      <p:cViewPr varScale="1">
        <p:scale>
          <a:sx n="126" d="100"/>
          <a:sy n="126" d="100"/>
        </p:scale>
        <p:origin x="187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711695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?>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?><Relationships xmlns="http://schemas.openxmlformats.org/package/2006/relationships"><Relationship Id="rId8" Type="http://schemas.openxmlformats.org/officeDocument/2006/relationships/image" Target="../media/image7.jpeg"/><Relationship Id="rId3" Type="http://schemas.openxmlformats.org/officeDocument/2006/relationships/image" Target="../media/image2.jpeg"/><Relationship Id="rId7" Type="http://schemas.openxmlformats.org/officeDocument/2006/relationships/image" Target="../media/image6.jpeg"/><Relationship Id="rId12" Type="http://schemas.openxmlformats.org/officeDocument/2006/relationships/image" Target="../media/image1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eg"/><Relationship Id="rId11" Type="http://schemas.openxmlformats.org/officeDocument/2006/relationships/image" Target="../media/image10.jpeg"/><Relationship Id="rId5" Type="http://schemas.openxmlformats.org/officeDocument/2006/relationships/image" Target="../media/image4.jpeg"/><Relationship Id="rId10" Type="http://schemas.openxmlformats.org/officeDocument/2006/relationships/image" Target="../media/image9.jpeg"/><Relationship Id="rId4" Type="http://schemas.openxmlformats.org/officeDocument/2006/relationships/image" Target="../media/image3.jpeg"/><Relationship Id="rId9" Type="http://schemas.openxmlformats.org/officeDocument/2006/relationships/image" Target="../media/image8.jpeg"/></Relationships>
</file>

<file path=ppt/slides/_rels/slide4.xml.rels><?xml version="1.0" encoding="UTF-8"?>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slides/_rels/slide5.xml.rels><?xml version="1.0" encoding="UTF-8"?>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jpeg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slides/_rels/slide6.xml.rels><?xml version="1.0" encoding="UTF-8"?>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7.xml.rels><?xml version="1.0" encoding="UTF-8"?>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8.xml.rels><?xml version="1.0" encoding="UTF-8"?>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jpeg"/><Relationship Id="rId4" Type="http://schemas.openxmlformats.org/officeDocument/2006/relationships/image" Target="../media/image23.jpeg"/></Relationships>
</file>

<file path=ppt/slides/_rels/slide9.xml.rels><?xml version="1.0" encoding="UTF-8"?>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0.xml.rels><?xml version="1.0" encoding="UTF-8"?>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C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3" name="Shape 1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4" name="Shape 2"/>
          <p:cNvSpPr/>
          <p:nvPr/>
        </p:nvSpPr>
        <p:spPr>
          <a:xfrm>
            <a:off x="5303520" y="36576"/>
            <a:ext cx="3840480" cy="5070348"/>
          </a:xfrm>
          <a:prstGeom prst="rect">
            <a:avLst/>
          </a:prstGeom>
          <a:solidFill>
            <a:srgbClr val="153A70"/>
          </a:solidFill>
          <a:ln w="12700">
            <a:solidFill>
              <a:srgbClr val="153A70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5" name="Shape 3"/>
          <p:cNvSpPr/>
          <p:nvPr/>
        </p:nvSpPr>
        <p:spPr>
          <a:xfrm>
            <a:off x="5166360" y="36576"/>
            <a:ext cx="73152" cy="5070348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6" name="Shape 4"/>
          <p:cNvSpPr/>
          <p:nvPr/>
        </p:nvSpPr>
        <p:spPr>
          <a:xfrm>
            <a:off x="502920" y="777240"/>
            <a:ext cx="1280160" cy="50292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cs-CZ"/>
          </a:p>
        </p:txBody>
      </p:sp>
      <p:sp>
        <p:nvSpPr>
          <p:cNvPr id="7" name="Text 5"/>
          <p:cNvSpPr/>
          <p:nvPr/>
        </p:nvSpPr>
        <p:spPr>
          <a:xfrm>
            <a:off x="502920" y="77724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2B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AURES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150876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800" i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Elite</a:t>
            </a:r>
            <a:endParaRPr lang="en-US" sz="5800" dirty="0"/>
          </a:p>
        </p:txBody>
      </p:sp>
      <p:sp>
        <p:nvSpPr>
          <p:cNvPr id="9" name="Text 7"/>
          <p:cNvSpPr/>
          <p:nvPr/>
        </p:nvSpPr>
        <p:spPr>
          <a:xfrm>
            <a:off x="457200" y="2212848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Mentoring</a:t>
            </a:r>
            <a:endParaRPr lang="en-US" sz="5800" dirty="0"/>
          </a:p>
        </p:txBody>
      </p:sp>
      <p:sp>
        <p:nvSpPr>
          <p:cNvPr id="10" name="Text 8"/>
          <p:cNvSpPr/>
          <p:nvPr/>
        </p:nvSpPr>
        <p:spPr>
          <a:xfrm>
            <a:off x="457200" y="3090672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5E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Propojujeme talenty s top managementem.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5E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Profesionálně, transparentně, bez zbytečného chaosu.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44348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Projekt oddělení HR  ·  Aures Holdings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532120" y="822960"/>
            <a:ext cx="3291840" cy="1097280"/>
          </a:xfrm>
          <a:prstGeom prst="rect">
            <a:avLst/>
          </a:prstGeom>
          <a:solidFill>
            <a:srgbClr val="0B2B5E"/>
          </a:solidFill>
          <a:ln w="12700">
            <a:solidFill>
              <a:srgbClr val="D4AF37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cs-CZ"/>
          </a:p>
        </p:txBody>
      </p:sp>
      <p:sp>
        <p:nvSpPr>
          <p:cNvPr id="13" name="Text 11"/>
          <p:cNvSpPr/>
          <p:nvPr/>
        </p:nvSpPr>
        <p:spPr>
          <a:xfrm>
            <a:off x="5532120" y="86868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3800" dirty="0"/>
          </a:p>
        </p:txBody>
      </p:sp>
      <p:sp>
        <p:nvSpPr>
          <p:cNvPr id="14" name="Text 12"/>
          <p:cNvSpPr/>
          <p:nvPr/>
        </p:nvSpPr>
        <p:spPr>
          <a:xfrm>
            <a:off x="5532120" y="1444752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5E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Mentorů z top managementu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532120" y="2148840"/>
            <a:ext cx="3291840" cy="1097280"/>
          </a:xfrm>
          <a:prstGeom prst="rect">
            <a:avLst/>
          </a:prstGeom>
          <a:solidFill>
            <a:srgbClr val="0B2B5E"/>
          </a:solidFill>
          <a:ln w="12700">
            <a:solidFill>
              <a:srgbClr val="D4AF37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cs-CZ"/>
          </a:p>
        </p:txBody>
      </p:sp>
      <p:sp>
        <p:nvSpPr>
          <p:cNvPr id="16" name="Text 14"/>
          <p:cNvSpPr/>
          <p:nvPr/>
        </p:nvSpPr>
        <p:spPr>
          <a:xfrm>
            <a:off x="5532120" y="219456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26</a:t>
            </a:r>
            <a:endParaRPr lang="en-US" sz="3800" dirty="0"/>
          </a:p>
        </p:txBody>
      </p:sp>
      <p:sp>
        <p:nvSpPr>
          <p:cNvPr id="17" name="Text 15"/>
          <p:cNvSpPr/>
          <p:nvPr/>
        </p:nvSpPr>
        <p:spPr>
          <a:xfrm>
            <a:off x="5532120" y="2770632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5E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Talentů v aktuálním cyklu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532120" y="3474720"/>
            <a:ext cx="3291840" cy="1097280"/>
          </a:xfrm>
          <a:prstGeom prst="rect">
            <a:avLst/>
          </a:prstGeom>
          <a:solidFill>
            <a:srgbClr val="0B2B5E"/>
          </a:solidFill>
          <a:ln w="12700">
            <a:solidFill>
              <a:srgbClr val="D4AF37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cs-CZ"/>
          </a:p>
        </p:txBody>
      </p:sp>
      <p:sp>
        <p:nvSpPr>
          <p:cNvPr id="19" name="Text 17"/>
          <p:cNvSpPr/>
          <p:nvPr/>
        </p:nvSpPr>
        <p:spPr>
          <a:xfrm>
            <a:off x="5532120" y="352044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100%</a:t>
            </a:r>
            <a:endParaRPr lang="en-US" sz="3800" dirty="0"/>
          </a:p>
        </p:txBody>
      </p:sp>
      <p:sp>
        <p:nvSpPr>
          <p:cNvPr id="20" name="Text 18"/>
          <p:cNvSpPr/>
          <p:nvPr/>
        </p:nvSpPr>
        <p:spPr>
          <a:xfrm>
            <a:off x="5532120" y="4096512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5E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Přehled pro HR v reálném čase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C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3" name="Shape 1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4" name="Shape 2"/>
          <p:cNvSpPr/>
          <p:nvPr/>
        </p:nvSpPr>
        <p:spPr>
          <a:xfrm>
            <a:off x="0" y="36576"/>
            <a:ext cx="9144000" cy="768096"/>
          </a:xfrm>
          <a:prstGeom prst="rect">
            <a:avLst/>
          </a:prstGeom>
          <a:solidFill>
            <a:srgbClr val="0B2B5E"/>
          </a:solidFill>
          <a:ln w="12700">
            <a:solidFill>
              <a:srgbClr val="0B2B5E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5" name="Text 3"/>
          <p:cNvSpPr/>
          <p:nvPr/>
        </p:nvSpPr>
        <p:spPr>
          <a:xfrm>
            <a:off x="411480" y="9144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Aures Elite Mentoring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0" y="804672"/>
            <a:ext cx="9144000" cy="4572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7" name="Text 5"/>
          <p:cNvSpPr/>
          <p:nvPr/>
        </p:nvSpPr>
        <p:spPr>
          <a:xfrm>
            <a:off x="411480" y="859536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5E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Exkluzivní aplikace uvnitř SharePointu Aures Holdings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1298448"/>
            <a:ext cx="2651760" cy="3520440"/>
          </a:xfrm>
          <a:prstGeom prst="rect">
            <a:avLst/>
          </a:prstGeom>
          <a:solidFill>
            <a:srgbClr val="153A70"/>
          </a:solidFill>
          <a:ln w="12700">
            <a:solidFill>
              <a:srgbClr val="D4AF37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cs-CZ"/>
          </a:p>
        </p:txBody>
      </p:sp>
      <p:sp>
        <p:nvSpPr>
          <p:cNvPr id="9" name="Shape 7"/>
          <p:cNvSpPr/>
          <p:nvPr/>
        </p:nvSpPr>
        <p:spPr>
          <a:xfrm>
            <a:off x="365760" y="1298448"/>
            <a:ext cx="2651760" cy="54864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1" name="Text 8"/>
          <p:cNvSpPr/>
          <p:nvPr/>
        </p:nvSpPr>
        <p:spPr>
          <a:xfrm>
            <a:off x="502920" y="228600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Exkluzivní přístup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530352" y="2852928"/>
            <a:ext cx="232257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5E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Pouze vybraní zaměstnanci (Talenti) mají přístup do systému. Žádné veřejné přihlašování — čistý whitelist.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3200400" y="1298448"/>
            <a:ext cx="2651760" cy="3520440"/>
          </a:xfrm>
          <a:prstGeom prst="rect">
            <a:avLst/>
          </a:prstGeom>
          <a:solidFill>
            <a:srgbClr val="153A70"/>
          </a:solidFill>
          <a:ln w="12700">
            <a:solidFill>
              <a:srgbClr val="D4AF37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cs-CZ"/>
          </a:p>
        </p:txBody>
      </p:sp>
      <p:sp>
        <p:nvSpPr>
          <p:cNvPr id="14" name="Shape 11"/>
          <p:cNvSpPr/>
          <p:nvPr/>
        </p:nvSpPr>
        <p:spPr>
          <a:xfrm>
            <a:off x="3200400" y="1298448"/>
            <a:ext cx="2651760" cy="54864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6240" y="1572768"/>
            <a:ext cx="594360" cy="59436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337560" y="228600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mentoři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3364992" y="2852928"/>
            <a:ext cx="232257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5E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členů top managementu. C-suite, ředitelé zemí, vedoucí divizí. Skuteční vzory s reálnými příběhy.</a:t>
            </a:r>
            <a:endParaRPr lang="en-US" sz="1150" dirty="0"/>
          </a:p>
        </p:txBody>
      </p:sp>
      <p:sp>
        <p:nvSpPr>
          <p:cNvPr id="18" name="Shape 14"/>
          <p:cNvSpPr/>
          <p:nvPr/>
        </p:nvSpPr>
        <p:spPr>
          <a:xfrm>
            <a:off x="6035040" y="1298448"/>
            <a:ext cx="2651760" cy="3520440"/>
          </a:xfrm>
          <a:prstGeom prst="rect">
            <a:avLst/>
          </a:prstGeom>
          <a:solidFill>
            <a:srgbClr val="153A70"/>
          </a:solidFill>
          <a:ln w="12700">
            <a:solidFill>
              <a:srgbClr val="D4AF37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cs-CZ"/>
          </a:p>
        </p:txBody>
      </p:sp>
      <p:sp>
        <p:nvSpPr>
          <p:cNvPr id="19" name="Shape 15"/>
          <p:cNvSpPr/>
          <p:nvPr/>
        </p:nvSpPr>
        <p:spPr>
          <a:xfrm>
            <a:off x="6035040" y="1298448"/>
            <a:ext cx="2651760" cy="54864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21" name="Text 16"/>
          <p:cNvSpPr/>
          <p:nvPr/>
        </p:nvSpPr>
        <p:spPr>
          <a:xfrm>
            <a:off x="6172200" y="228600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Automatický proces</a:t>
            </a:r>
            <a:endParaRPr lang="en-US" sz="1500" dirty="0"/>
          </a:p>
        </p:txBody>
      </p:sp>
      <p:sp>
        <p:nvSpPr>
          <p:cNvPr id="22" name="Text 17"/>
          <p:cNvSpPr/>
          <p:nvPr/>
        </p:nvSpPr>
        <p:spPr>
          <a:xfrm>
            <a:off x="6199632" y="2852928"/>
            <a:ext cx="232257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5E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Žádné e-maily, žádné tabulky. Celý workflow — od žádosti po schválení — plně v systému.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3" name="Shape 1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B2B5E"/>
          </a:solidFill>
          <a:ln w="12700">
            <a:solidFill>
              <a:srgbClr val="0B2B5E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5" name="Shape 3"/>
          <p:cNvSpPr/>
          <p:nvPr/>
        </p:nvSpPr>
        <p:spPr>
          <a:xfrm>
            <a:off x="0" y="978408"/>
            <a:ext cx="9144000" cy="64008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6" name="Text 4"/>
          <p:cNvSpPr/>
          <p:nvPr/>
        </p:nvSpPr>
        <p:spPr>
          <a:xfrm>
            <a:off x="411480" y="45720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Naši mentoři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11480" y="694944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5E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lídrů Aures Holdings — každý s vlastním příběhem, rolí a superschopností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82880" y="1170432"/>
            <a:ext cx="1664208" cy="1609344"/>
          </a:xfrm>
          <a:prstGeom prst="rect">
            <a:avLst/>
          </a:prstGeom>
          <a:solidFill>
            <a:srgbClr val="FFFFFF"/>
          </a:solidFill>
          <a:ln w="12700">
            <a:solidFill>
              <a:srgbClr val="E9ECEF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cs-CZ"/>
          </a:p>
        </p:txBody>
      </p:sp>
      <p:sp>
        <p:nvSpPr>
          <p:cNvPr id="9" name="Shape 7"/>
          <p:cNvSpPr/>
          <p:nvPr/>
        </p:nvSpPr>
        <p:spPr>
          <a:xfrm>
            <a:off x="182880" y="1170432"/>
            <a:ext cx="1664208" cy="54864"/>
          </a:xfrm>
          <a:prstGeom prst="rect">
            <a:avLst/>
          </a:prstGeom>
          <a:solidFill>
            <a:srgbClr val="0B2B5E"/>
          </a:solidFill>
          <a:ln w="12700">
            <a:solidFill>
              <a:srgbClr val="0B2B5E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298448"/>
            <a:ext cx="841248" cy="841248"/>
          </a:xfrm>
          <a:prstGeom prst="ellipse">
            <a:avLst/>
          </a:prstGeom>
        </p:spPr>
      </p:pic>
      <p:sp>
        <p:nvSpPr>
          <p:cNvPr id="12" name="Text 9"/>
          <p:cNvSpPr/>
          <p:nvPr/>
        </p:nvSpPr>
        <p:spPr>
          <a:xfrm>
            <a:off x="237744" y="2212848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Karolína Topolová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237744" y="2523744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co-CEO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1956816" y="1170432"/>
            <a:ext cx="1664208" cy="1609344"/>
          </a:xfrm>
          <a:prstGeom prst="rect">
            <a:avLst/>
          </a:prstGeom>
          <a:solidFill>
            <a:srgbClr val="FFFFFF"/>
          </a:solidFill>
          <a:ln w="12700">
            <a:solidFill>
              <a:srgbClr val="E9ECEF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cs-CZ"/>
          </a:p>
        </p:txBody>
      </p:sp>
      <p:sp>
        <p:nvSpPr>
          <p:cNvPr id="15" name="Shape 12"/>
          <p:cNvSpPr/>
          <p:nvPr/>
        </p:nvSpPr>
        <p:spPr>
          <a:xfrm>
            <a:off x="1956816" y="1170432"/>
            <a:ext cx="1664208" cy="54864"/>
          </a:xfrm>
          <a:prstGeom prst="rect">
            <a:avLst/>
          </a:prstGeom>
          <a:solidFill>
            <a:srgbClr val="0B2B5E"/>
          </a:solidFill>
          <a:ln w="12700">
            <a:solidFill>
              <a:srgbClr val="0B2B5E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68296" y="1298448"/>
            <a:ext cx="841248" cy="841248"/>
          </a:xfrm>
          <a:prstGeom prst="ellipse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2011680" y="2212848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Petr Vaněček</a:t>
            </a:r>
            <a:endParaRPr lang="en-US" sz="950" dirty="0"/>
          </a:p>
        </p:txBody>
      </p:sp>
      <p:sp>
        <p:nvSpPr>
          <p:cNvPr id="19" name="Text 15"/>
          <p:cNvSpPr/>
          <p:nvPr/>
        </p:nvSpPr>
        <p:spPr>
          <a:xfrm>
            <a:off x="2011680" y="2523744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co-CEO</a:t>
            </a:r>
            <a:endParaRPr lang="en-US" sz="850" dirty="0"/>
          </a:p>
        </p:txBody>
      </p:sp>
      <p:sp>
        <p:nvSpPr>
          <p:cNvPr id="20" name="Shape 16"/>
          <p:cNvSpPr/>
          <p:nvPr/>
        </p:nvSpPr>
        <p:spPr>
          <a:xfrm>
            <a:off x="3730752" y="1170432"/>
            <a:ext cx="1664208" cy="1609344"/>
          </a:xfrm>
          <a:prstGeom prst="rect">
            <a:avLst/>
          </a:prstGeom>
          <a:solidFill>
            <a:srgbClr val="FFFFFF"/>
          </a:solidFill>
          <a:ln w="12700">
            <a:solidFill>
              <a:srgbClr val="E9ECEF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cs-CZ"/>
          </a:p>
        </p:txBody>
      </p:sp>
      <p:sp>
        <p:nvSpPr>
          <p:cNvPr id="21" name="Shape 17"/>
          <p:cNvSpPr/>
          <p:nvPr/>
        </p:nvSpPr>
        <p:spPr>
          <a:xfrm>
            <a:off x="3730752" y="1170432"/>
            <a:ext cx="1664208" cy="54864"/>
          </a:xfrm>
          <a:prstGeom prst="rect">
            <a:avLst/>
          </a:prstGeom>
          <a:solidFill>
            <a:srgbClr val="0B2B5E"/>
          </a:solidFill>
          <a:ln w="12700">
            <a:solidFill>
              <a:srgbClr val="0B2B5E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42232" y="1298448"/>
            <a:ext cx="841248" cy="841248"/>
          </a:xfrm>
          <a:prstGeom prst="ellipse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3785616" y="2212848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Martin Hrudník</a:t>
            </a:r>
            <a:endParaRPr lang="en-US" sz="950" dirty="0"/>
          </a:p>
        </p:txBody>
      </p:sp>
      <p:sp>
        <p:nvSpPr>
          <p:cNvPr id="25" name="Text 20"/>
          <p:cNvSpPr/>
          <p:nvPr/>
        </p:nvSpPr>
        <p:spPr>
          <a:xfrm>
            <a:off x="3785616" y="2523744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</a:t>
            </a:r>
            <a:endParaRPr lang="en-US" sz="850" dirty="0"/>
          </a:p>
        </p:txBody>
      </p:sp>
      <p:sp>
        <p:nvSpPr>
          <p:cNvPr id="26" name="Shape 21"/>
          <p:cNvSpPr/>
          <p:nvPr/>
        </p:nvSpPr>
        <p:spPr>
          <a:xfrm>
            <a:off x="5504688" y="1170432"/>
            <a:ext cx="1664208" cy="1609344"/>
          </a:xfrm>
          <a:prstGeom prst="rect">
            <a:avLst/>
          </a:prstGeom>
          <a:solidFill>
            <a:srgbClr val="FFFFFF"/>
          </a:solidFill>
          <a:ln w="12700">
            <a:solidFill>
              <a:srgbClr val="E9ECEF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cs-CZ"/>
          </a:p>
        </p:txBody>
      </p:sp>
      <p:sp>
        <p:nvSpPr>
          <p:cNvPr id="27" name="Shape 22"/>
          <p:cNvSpPr/>
          <p:nvPr/>
        </p:nvSpPr>
        <p:spPr>
          <a:xfrm>
            <a:off x="5504688" y="1170432"/>
            <a:ext cx="1664208" cy="54864"/>
          </a:xfrm>
          <a:prstGeom prst="rect">
            <a:avLst/>
          </a:prstGeom>
          <a:solidFill>
            <a:srgbClr val="0B2B5E"/>
          </a:solidFill>
          <a:ln w="12700">
            <a:solidFill>
              <a:srgbClr val="0B2B5E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16168" y="1298448"/>
            <a:ext cx="841248" cy="841248"/>
          </a:xfrm>
          <a:prstGeom prst="ellipse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5559552" y="2212848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Luboš Vorlík</a:t>
            </a:r>
            <a:endParaRPr lang="en-US" sz="950" dirty="0"/>
          </a:p>
        </p:txBody>
      </p:sp>
      <p:sp>
        <p:nvSpPr>
          <p:cNvPr id="31" name="Text 25"/>
          <p:cNvSpPr/>
          <p:nvPr/>
        </p:nvSpPr>
        <p:spPr>
          <a:xfrm>
            <a:off x="5559552" y="2523744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 CZ/SK</a:t>
            </a:r>
            <a:endParaRPr lang="en-US" sz="850" dirty="0"/>
          </a:p>
        </p:txBody>
      </p:sp>
      <p:sp>
        <p:nvSpPr>
          <p:cNvPr id="32" name="Shape 26"/>
          <p:cNvSpPr/>
          <p:nvPr/>
        </p:nvSpPr>
        <p:spPr>
          <a:xfrm>
            <a:off x="7278624" y="1170432"/>
            <a:ext cx="1664208" cy="1609344"/>
          </a:xfrm>
          <a:prstGeom prst="rect">
            <a:avLst/>
          </a:prstGeom>
          <a:solidFill>
            <a:srgbClr val="FFFFFF"/>
          </a:solidFill>
          <a:ln w="12700">
            <a:solidFill>
              <a:srgbClr val="E9ECEF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cs-CZ"/>
          </a:p>
        </p:txBody>
      </p:sp>
      <p:sp>
        <p:nvSpPr>
          <p:cNvPr id="33" name="Shape 27"/>
          <p:cNvSpPr/>
          <p:nvPr/>
        </p:nvSpPr>
        <p:spPr>
          <a:xfrm>
            <a:off x="7278624" y="1170432"/>
            <a:ext cx="1664208" cy="54864"/>
          </a:xfrm>
          <a:prstGeom prst="rect">
            <a:avLst/>
          </a:prstGeom>
          <a:solidFill>
            <a:srgbClr val="0B2B5E"/>
          </a:solidFill>
          <a:ln w="12700">
            <a:solidFill>
              <a:srgbClr val="0B2B5E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pic>
        <p:nvPicPr>
          <p:cNvPr id="3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90104" y="1298448"/>
            <a:ext cx="841248" cy="841248"/>
          </a:xfrm>
          <a:prstGeom prst="ellipse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7333488" y="2212848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Daniel Luňáček</a:t>
            </a:r>
            <a:endParaRPr lang="en-US" sz="950" dirty="0"/>
          </a:p>
        </p:txBody>
      </p:sp>
      <p:sp>
        <p:nvSpPr>
          <p:cNvPr id="37" name="Text 30"/>
          <p:cNvSpPr/>
          <p:nvPr/>
        </p:nvSpPr>
        <p:spPr>
          <a:xfrm>
            <a:off x="7333488" y="2523744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Sales Director</a:t>
            </a:r>
            <a:endParaRPr lang="en-US" sz="850" dirty="0"/>
          </a:p>
        </p:txBody>
      </p:sp>
      <p:sp>
        <p:nvSpPr>
          <p:cNvPr id="38" name="Shape 31"/>
          <p:cNvSpPr/>
          <p:nvPr/>
        </p:nvSpPr>
        <p:spPr>
          <a:xfrm>
            <a:off x="182880" y="2926080"/>
            <a:ext cx="1664208" cy="1609344"/>
          </a:xfrm>
          <a:prstGeom prst="rect">
            <a:avLst/>
          </a:prstGeom>
          <a:solidFill>
            <a:srgbClr val="FFFFFF"/>
          </a:solidFill>
          <a:ln w="12700">
            <a:solidFill>
              <a:srgbClr val="E9ECEF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cs-CZ"/>
          </a:p>
        </p:txBody>
      </p:sp>
      <p:sp>
        <p:nvSpPr>
          <p:cNvPr id="39" name="Shape 32"/>
          <p:cNvSpPr/>
          <p:nvPr/>
        </p:nvSpPr>
        <p:spPr>
          <a:xfrm>
            <a:off x="182880" y="2926080"/>
            <a:ext cx="1664208" cy="54864"/>
          </a:xfrm>
          <a:prstGeom prst="rect">
            <a:avLst/>
          </a:prstGeom>
          <a:solidFill>
            <a:srgbClr val="0B2B5E"/>
          </a:solidFill>
          <a:ln w="12700">
            <a:solidFill>
              <a:srgbClr val="0B2B5E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pic>
        <p:nvPicPr>
          <p:cNvPr id="4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4360" y="3054096"/>
            <a:ext cx="841248" cy="841248"/>
          </a:xfrm>
          <a:prstGeom prst="ellipse">
            <a:avLst/>
          </a:prstGeom>
        </p:spPr>
      </p:pic>
      <p:sp>
        <p:nvSpPr>
          <p:cNvPr id="42" name="Text 34"/>
          <p:cNvSpPr/>
          <p:nvPr/>
        </p:nvSpPr>
        <p:spPr>
          <a:xfrm>
            <a:off x="237744" y="3968496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Miroslav Vápeník</a:t>
            </a:r>
            <a:endParaRPr lang="en-US" sz="950" dirty="0"/>
          </a:p>
        </p:txBody>
      </p:sp>
      <p:sp>
        <p:nvSpPr>
          <p:cNvPr id="43" name="Text 35"/>
          <p:cNvSpPr/>
          <p:nvPr/>
        </p:nvSpPr>
        <p:spPr>
          <a:xfrm>
            <a:off x="237744" y="4279392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 Poland</a:t>
            </a:r>
            <a:endParaRPr lang="en-US" sz="850" dirty="0"/>
          </a:p>
        </p:txBody>
      </p:sp>
      <p:sp>
        <p:nvSpPr>
          <p:cNvPr id="44" name="Shape 36"/>
          <p:cNvSpPr/>
          <p:nvPr/>
        </p:nvSpPr>
        <p:spPr>
          <a:xfrm>
            <a:off x="1956816" y="2926080"/>
            <a:ext cx="1664208" cy="1609344"/>
          </a:xfrm>
          <a:prstGeom prst="rect">
            <a:avLst/>
          </a:prstGeom>
          <a:solidFill>
            <a:srgbClr val="FFFFFF"/>
          </a:solidFill>
          <a:ln w="12700">
            <a:solidFill>
              <a:srgbClr val="E9ECEF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cs-CZ"/>
          </a:p>
        </p:txBody>
      </p:sp>
      <p:sp>
        <p:nvSpPr>
          <p:cNvPr id="45" name="Shape 37"/>
          <p:cNvSpPr/>
          <p:nvPr/>
        </p:nvSpPr>
        <p:spPr>
          <a:xfrm>
            <a:off x="1956816" y="2926080"/>
            <a:ext cx="1664208" cy="54864"/>
          </a:xfrm>
          <a:prstGeom prst="rect">
            <a:avLst/>
          </a:prstGeom>
          <a:solidFill>
            <a:srgbClr val="0B2B5E"/>
          </a:solidFill>
          <a:ln w="12700">
            <a:solidFill>
              <a:srgbClr val="0B2B5E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pic>
        <p:nvPicPr>
          <p:cNvPr id="46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368296" y="3054096"/>
            <a:ext cx="841248" cy="841248"/>
          </a:xfrm>
          <a:prstGeom prst="ellipse">
            <a:avLst/>
          </a:prstGeom>
        </p:spPr>
      </p:pic>
      <p:sp>
        <p:nvSpPr>
          <p:cNvPr id="48" name="Text 39"/>
          <p:cNvSpPr/>
          <p:nvPr/>
        </p:nvSpPr>
        <p:spPr>
          <a:xfrm>
            <a:off x="2011680" y="3968496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Marie Voršilková</a:t>
            </a:r>
            <a:endParaRPr lang="en-US" sz="950" dirty="0"/>
          </a:p>
        </p:txBody>
      </p:sp>
      <p:sp>
        <p:nvSpPr>
          <p:cNvPr id="49" name="Text 40"/>
          <p:cNvSpPr/>
          <p:nvPr/>
        </p:nvSpPr>
        <p:spPr>
          <a:xfrm>
            <a:off x="2011680" y="4279392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Chief HR Officer</a:t>
            </a:r>
            <a:endParaRPr lang="en-US" sz="850" dirty="0"/>
          </a:p>
        </p:txBody>
      </p:sp>
      <p:sp>
        <p:nvSpPr>
          <p:cNvPr id="50" name="Shape 41"/>
          <p:cNvSpPr/>
          <p:nvPr/>
        </p:nvSpPr>
        <p:spPr>
          <a:xfrm>
            <a:off x="3730752" y="2926080"/>
            <a:ext cx="1664208" cy="1609344"/>
          </a:xfrm>
          <a:prstGeom prst="rect">
            <a:avLst/>
          </a:prstGeom>
          <a:solidFill>
            <a:srgbClr val="FFFFFF"/>
          </a:solidFill>
          <a:ln w="12700">
            <a:solidFill>
              <a:srgbClr val="E9ECEF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cs-CZ"/>
          </a:p>
        </p:txBody>
      </p:sp>
      <p:sp>
        <p:nvSpPr>
          <p:cNvPr id="51" name="Shape 42"/>
          <p:cNvSpPr/>
          <p:nvPr/>
        </p:nvSpPr>
        <p:spPr>
          <a:xfrm>
            <a:off x="3730752" y="2926080"/>
            <a:ext cx="1664208" cy="54864"/>
          </a:xfrm>
          <a:prstGeom prst="rect">
            <a:avLst/>
          </a:prstGeom>
          <a:solidFill>
            <a:srgbClr val="0B2B5E"/>
          </a:solidFill>
          <a:ln w="12700">
            <a:solidFill>
              <a:srgbClr val="0B2B5E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pic>
        <p:nvPicPr>
          <p:cNvPr id="5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142232" y="3054096"/>
            <a:ext cx="841248" cy="841248"/>
          </a:xfrm>
          <a:prstGeom prst="ellipse">
            <a:avLst/>
          </a:prstGeom>
        </p:spPr>
      </p:pic>
      <p:sp>
        <p:nvSpPr>
          <p:cNvPr id="54" name="Text 44"/>
          <p:cNvSpPr/>
          <p:nvPr/>
        </p:nvSpPr>
        <p:spPr>
          <a:xfrm>
            <a:off x="3785616" y="3968496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Zuzana Voborníková</a:t>
            </a:r>
            <a:endParaRPr lang="en-US" sz="950" dirty="0"/>
          </a:p>
        </p:txBody>
      </p:sp>
      <p:sp>
        <p:nvSpPr>
          <p:cNvPr id="55" name="Text 45"/>
          <p:cNvSpPr/>
          <p:nvPr/>
        </p:nvSpPr>
        <p:spPr>
          <a:xfrm>
            <a:off x="3785616" y="4279392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Staffing Mgr</a:t>
            </a:r>
            <a:endParaRPr lang="en-US" sz="850" dirty="0"/>
          </a:p>
        </p:txBody>
      </p:sp>
      <p:sp>
        <p:nvSpPr>
          <p:cNvPr id="56" name="Shape 46"/>
          <p:cNvSpPr/>
          <p:nvPr/>
        </p:nvSpPr>
        <p:spPr>
          <a:xfrm>
            <a:off x="5504688" y="2926080"/>
            <a:ext cx="1664208" cy="1609344"/>
          </a:xfrm>
          <a:prstGeom prst="rect">
            <a:avLst/>
          </a:prstGeom>
          <a:solidFill>
            <a:srgbClr val="FFFFFF"/>
          </a:solidFill>
          <a:ln w="12700">
            <a:solidFill>
              <a:srgbClr val="E9ECEF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cs-CZ"/>
          </a:p>
        </p:txBody>
      </p:sp>
      <p:sp>
        <p:nvSpPr>
          <p:cNvPr id="57" name="Shape 47"/>
          <p:cNvSpPr/>
          <p:nvPr/>
        </p:nvSpPr>
        <p:spPr>
          <a:xfrm>
            <a:off x="5504688" y="2926080"/>
            <a:ext cx="1664208" cy="54864"/>
          </a:xfrm>
          <a:prstGeom prst="rect">
            <a:avLst/>
          </a:prstGeom>
          <a:solidFill>
            <a:srgbClr val="0B2B5E"/>
          </a:solidFill>
          <a:ln w="12700">
            <a:solidFill>
              <a:srgbClr val="0B2B5E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pic>
        <p:nvPicPr>
          <p:cNvPr id="58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916168" y="3054096"/>
            <a:ext cx="841248" cy="841248"/>
          </a:xfrm>
          <a:prstGeom prst="ellipse">
            <a:avLst/>
          </a:prstGeom>
        </p:spPr>
      </p:pic>
      <p:sp>
        <p:nvSpPr>
          <p:cNvPr id="60" name="Text 49"/>
          <p:cNvSpPr/>
          <p:nvPr/>
        </p:nvSpPr>
        <p:spPr>
          <a:xfrm>
            <a:off x="5559552" y="3968496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Zdeněk Batěk</a:t>
            </a:r>
            <a:endParaRPr lang="en-US" sz="950" dirty="0"/>
          </a:p>
        </p:txBody>
      </p:sp>
      <p:sp>
        <p:nvSpPr>
          <p:cNvPr id="61" name="Text 50"/>
          <p:cNvSpPr/>
          <p:nvPr/>
        </p:nvSpPr>
        <p:spPr>
          <a:xfrm>
            <a:off x="5559552" y="4279392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Purchasing Dir</a:t>
            </a:r>
            <a:endParaRPr lang="en-US" sz="850" dirty="0"/>
          </a:p>
        </p:txBody>
      </p:sp>
      <p:sp>
        <p:nvSpPr>
          <p:cNvPr id="62" name="Shape 51"/>
          <p:cNvSpPr/>
          <p:nvPr/>
        </p:nvSpPr>
        <p:spPr>
          <a:xfrm>
            <a:off x="7278624" y="2926080"/>
            <a:ext cx="1664208" cy="1609344"/>
          </a:xfrm>
          <a:prstGeom prst="rect">
            <a:avLst/>
          </a:prstGeom>
          <a:solidFill>
            <a:srgbClr val="FFFFFF"/>
          </a:solidFill>
          <a:ln w="12700">
            <a:solidFill>
              <a:srgbClr val="E9ECEF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cs-CZ"/>
          </a:p>
        </p:txBody>
      </p:sp>
      <p:sp>
        <p:nvSpPr>
          <p:cNvPr id="63" name="Shape 52"/>
          <p:cNvSpPr/>
          <p:nvPr/>
        </p:nvSpPr>
        <p:spPr>
          <a:xfrm>
            <a:off x="7278624" y="2926080"/>
            <a:ext cx="1664208" cy="54864"/>
          </a:xfrm>
          <a:prstGeom prst="rect">
            <a:avLst/>
          </a:prstGeom>
          <a:solidFill>
            <a:srgbClr val="0B2B5E"/>
          </a:solidFill>
          <a:ln w="12700">
            <a:solidFill>
              <a:srgbClr val="0B2B5E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pic>
        <p:nvPicPr>
          <p:cNvPr id="64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690104" y="3054096"/>
            <a:ext cx="841248" cy="841248"/>
          </a:xfrm>
          <a:prstGeom prst="ellipse">
            <a:avLst/>
          </a:prstGeom>
        </p:spPr>
      </p:pic>
      <p:sp>
        <p:nvSpPr>
          <p:cNvPr id="66" name="Text 54"/>
          <p:cNvSpPr/>
          <p:nvPr/>
        </p:nvSpPr>
        <p:spPr>
          <a:xfrm>
            <a:off x="7333488" y="3968496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Alen Svoboda</a:t>
            </a:r>
            <a:endParaRPr lang="en-US" sz="950" dirty="0"/>
          </a:p>
        </p:txBody>
      </p:sp>
      <p:sp>
        <p:nvSpPr>
          <p:cNvPr id="67" name="Text 55"/>
          <p:cNvSpPr/>
          <p:nvPr/>
        </p:nvSpPr>
        <p:spPr>
          <a:xfrm>
            <a:off x="7333488" y="4279392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Mgr Prague</a:t>
            </a:r>
            <a:endParaRPr lang="en-US" sz="850" dirty="0"/>
          </a:p>
        </p:txBody>
      </p:sp>
      <p:sp>
        <p:nvSpPr>
          <p:cNvPr id="68" name="Text 56"/>
          <p:cNvSpPr/>
          <p:nvPr/>
        </p:nvSpPr>
        <p:spPr>
          <a:xfrm>
            <a:off x="411480" y="4773168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Každý profil obsahuje bio, superschopnost, kariérní výzvy a dostupnou kapacitu.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3" name="Shape 1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B2B5E"/>
          </a:solidFill>
          <a:ln w="12700">
            <a:solidFill>
              <a:srgbClr val="0B2B5E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5" name="Shape 3"/>
          <p:cNvSpPr/>
          <p:nvPr/>
        </p:nvSpPr>
        <p:spPr>
          <a:xfrm>
            <a:off x="0" y="978408"/>
            <a:ext cx="9144000" cy="64008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6" name="Text 4"/>
          <p:cNvSpPr/>
          <p:nvPr/>
        </p:nvSpPr>
        <p:spPr>
          <a:xfrm>
            <a:off x="411480" y="45720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Pohled talenta — od výběru po odeslání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11480" y="694944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5E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Moderní rozhraní. Žádné e-maily. Talent má vše přehledně na jednom místě.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1170432"/>
            <a:ext cx="502920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CEF"/>
            </a:solidFill>
            <a:prstDash val="solid"/>
          </a:ln>
          <a:effectLst>
            <a:outerShdw blurRad="1270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cs-CZ"/>
          </a:p>
        </p:txBody>
      </p:sp>
      <p:sp>
        <p:nvSpPr>
          <p:cNvPr id="9" name="Shape 7"/>
          <p:cNvSpPr/>
          <p:nvPr/>
        </p:nvSpPr>
        <p:spPr>
          <a:xfrm>
            <a:off x="365760" y="1170432"/>
            <a:ext cx="5029200" cy="384048"/>
          </a:xfrm>
          <a:prstGeom prst="rect">
            <a:avLst/>
          </a:prstGeom>
          <a:solidFill>
            <a:srgbClr val="0B2B5E"/>
          </a:solidFill>
          <a:ln w="12700">
            <a:solidFill>
              <a:srgbClr val="0B2B5E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0" name="Text 8"/>
          <p:cNvSpPr/>
          <p:nvPr/>
        </p:nvSpPr>
        <p:spPr>
          <a:xfrm>
            <a:off x="457200" y="1188720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AURES   Elite Mentoring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1554480"/>
            <a:ext cx="5029200" cy="36576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2" name="Shape 10"/>
          <p:cNvSpPr/>
          <p:nvPr/>
        </p:nvSpPr>
        <p:spPr>
          <a:xfrm>
            <a:off x="457200" y="1618488"/>
            <a:ext cx="1508760" cy="292608"/>
          </a:xfrm>
          <a:prstGeom prst="rect">
            <a:avLst/>
          </a:prstGeom>
          <a:solidFill>
            <a:srgbClr val="F5ECC0"/>
          </a:solidFill>
          <a:ln w="1905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3" name="Text 11"/>
          <p:cNvSpPr/>
          <p:nvPr/>
        </p:nvSpPr>
        <p:spPr>
          <a:xfrm>
            <a:off x="457200" y="1618488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71C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Katalog mentorů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029968" y="1618488"/>
            <a:ext cx="1508760" cy="292608"/>
          </a:xfrm>
          <a:prstGeom prst="rect">
            <a:avLst/>
          </a:prstGeom>
          <a:solidFill>
            <a:srgbClr val="E9ECEF"/>
          </a:solidFill>
          <a:ln w="12700">
            <a:solidFill>
              <a:srgbClr val="E9ECEF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5" name="Text 13"/>
          <p:cNvSpPr/>
          <p:nvPr/>
        </p:nvSpPr>
        <p:spPr>
          <a:xfrm>
            <a:off x="2029968" y="1618488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Moje žádosti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602736" y="1618488"/>
            <a:ext cx="1508760" cy="292608"/>
          </a:xfrm>
          <a:prstGeom prst="rect">
            <a:avLst/>
          </a:prstGeom>
          <a:solidFill>
            <a:srgbClr val="E9ECEF"/>
          </a:solidFill>
          <a:ln w="12700">
            <a:solidFill>
              <a:srgbClr val="E9ECEF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7" name="Text 15"/>
          <p:cNvSpPr/>
          <p:nvPr/>
        </p:nvSpPr>
        <p:spPr>
          <a:xfrm>
            <a:off x="3602736" y="1618488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Změna volby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" y="1975104"/>
            <a:ext cx="4754880" cy="713232"/>
          </a:xfrm>
          <a:prstGeom prst="rect">
            <a:avLst/>
          </a:prstGeom>
          <a:solidFill>
            <a:srgbClr val="F8F9FA"/>
          </a:solidFill>
          <a:ln w="12700">
            <a:solidFill>
              <a:srgbClr val="E9ECEF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pic>
        <p:nvPicPr>
          <p:cNvPr id="1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2130552"/>
            <a:ext cx="384048" cy="384048"/>
          </a:xfrm>
          <a:prstGeom prst="ellipse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1024128" y="204825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Karolína Topolová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1024128" y="2304288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co-CEO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1024128" y="2468880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B59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Networking, change management</a:t>
            </a:r>
            <a:endParaRPr lang="en-US" sz="800" dirty="0"/>
          </a:p>
        </p:txBody>
      </p:sp>
      <p:sp>
        <p:nvSpPr>
          <p:cNvPr id="24" name="Shape 21"/>
          <p:cNvSpPr/>
          <p:nvPr/>
        </p:nvSpPr>
        <p:spPr>
          <a:xfrm>
            <a:off x="4069080" y="2176272"/>
            <a:ext cx="960120" cy="274320"/>
          </a:xfrm>
          <a:prstGeom prst="rect">
            <a:avLst/>
          </a:prstGeom>
          <a:solidFill>
            <a:srgbClr val="0B2B5E"/>
          </a:solidFill>
          <a:ln w="12700">
            <a:solidFill>
              <a:srgbClr val="0B2B5E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25" name="Text 22"/>
          <p:cNvSpPr/>
          <p:nvPr/>
        </p:nvSpPr>
        <p:spPr>
          <a:xfrm>
            <a:off x="4069080" y="2176272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Vybráno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457200" y="2779776"/>
            <a:ext cx="4754880" cy="713232"/>
          </a:xfrm>
          <a:prstGeom prst="rect">
            <a:avLst/>
          </a:prstGeom>
          <a:solidFill>
            <a:srgbClr val="F8F9FA"/>
          </a:solidFill>
          <a:ln w="12700">
            <a:solidFill>
              <a:srgbClr val="E9ECEF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pic>
        <p:nvPicPr>
          <p:cNvPr id="2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2935224"/>
            <a:ext cx="384048" cy="384048"/>
          </a:xfrm>
          <a:prstGeom prst="ellipse">
            <a:avLst/>
          </a:prstGeom>
        </p:spPr>
      </p:pic>
      <p:sp>
        <p:nvSpPr>
          <p:cNvPr id="29" name="Text 25"/>
          <p:cNvSpPr/>
          <p:nvPr/>
        </p:nvSpPr>
        <p:spPr>
          <a:xfrm>
            <a:off x="1024128" y="285292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Martin Hrudník</a:t>
            </a:r>
            <a:endParaRPr lang="en-US" sz="1000" dirty="0"/>
          </a:p>
        </p:txBody>
      </p:sp>
      <p:sp>
        <p:nvSpPr>
          <p:cNvPr id="30" name="Text 26"/>
          <p:cNvSpPr/>
          <p:nvPr/>
        </p:nvSpPr>
        <p:spPr>
          <a:xfrm>
            <a:off x="1024128" y="3108960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</a:t>
            </a:r>
            <a:endParaRPr lang="en-US" sz="850" dirty="0"/>
          </a:p>
        </p:txBody>
      </p:sp>
      <p:sp>
        <p:nvSpPr>
          <p:cNvPr id="31" name="Text 27"/>
          <p:cNvSpPr/>
          <p:nvPr/>
        </p:nvSpPr>
        <p:spPr>
          <a:xfrm>
            <a:off x="1024128" y="3273552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B59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Nákupní strategie a expanze</a:t>
            </a:r>
            <a:endParaRPr lang="en-US" sz="800" dirty="0"/>
          </a:p>
        </p:txBody>
      </p:sp>
      <p:sp>
        <p:nvSpPr>
          <p:cNvPr id="32" name="Shape 28"/>
          <p:cNvSpPr/>
          <p:nvPr/>
        </p:nvSpPr>
        <p:spPr>
          <a:xfrm>
            <a:off x="4069080" y="2980944"/>
            <a:ext cx="960120" cy="274320"/>
          </a:xfrm>
          <a:prstGeom prst="rect">
            <a:avLst/>
          </a:prstGeom>
          <a:solidFill>
            <a:srgbClr val="E9ECEF"/>
          </a:solidFill>
          <a:ln w="12700">
            <a:solidFill>
              <a:srgbClr val="E9ECEF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33" name="Text 29"/>
          <p:cNvSpPr/>
          <p:nvPr/>
        </p:nvSpPr>
        <p:spPr>
          <a:xfrm>
            <a:off x="4069080" y="2980944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Vybrat</a:t>
            </a:r>
            <a:endParaRPr lang="en-US" sz="900" dirty="0"/>
          </a:p>
        </p:txBody>
      </p:sp>
      <p:sp>
        <p:nvSpPr>
          <p:cNvPr id="34" name="Shape 30"/>
          <p:cNvSpPr/>
          <p:nvPr/>
        </p:nvSpPr>
        <p:spPr>
          <a:xfrm>
            <a:off x="457200" y="3584448"/>
            <a:ext cx="4754880" cy="713232"/>
          </a:xfrm>
          <a:prstGeom prst="rect">
            <a:avLst/>
          </a:prstGeom>
          <a:solidFill>
            <a:srgbClr val="F8F9FA"/>
          </a:solidFill>
          <a:ln w="12700">
            <a:solidFill>
              <a:srgbClr val="E9ECEF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pic>
        <p:nvPicPr>
          <p:cNvPr id="3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28" y="3739896"/>
            <a:ext cx="384048" cy="384048"/>
          </a:xfrm>
          <a:prstGeom prst="ellipse">
            <a:avLst/>
          </a:prstGeom>
        </p:spPr>
      </p:pic>
      <p:sp>
        <p:nvSpPr>
          <p:cNvPr id="37" name="Text 32"/>
          <p:cNvSpPr/>
          <p:nvPr/>
        </p:nvSpPr>
        <p:spPr>
          <a:xfrm>
            <a:off x="1024128" y="36576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Luboš Vorlík</a:t>
            </a:r>
            <a:endParaRPr lang="en-US" sz="1000" dirty="0"/>
          </a:p>
        </p:txBody>
      </p:sp>
      <p:sp>
        <p:nvSpPr>
          <p:cNvPr id="38" name="Text 33"/>
          <p:cNvSpPr/>
          <p:nvPr/>
        </p:nvSpPr>
        <p:spPr>
          <a:xfrm>
            <a:off x="1024128" y="3913632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 CZ/SK</a:t>
            </a:r>
            <a:endParaRPr lang="en-US" sz="850" dirty="0"/>
          </a:p>
        </p:txBody>
      </p:sp>
      <p:sp>
        <p:nvSpPr>
          <p:cNvPr id="39" name="Text 34"/>
          <p:cNvSpPr/>
          <p:nvPr/>
        </p:nvSpPr>
        <p:spPr>
          <a:xfrm>
            <a:off x="1024128" y="4078224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B59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Leadership a motivace týmu</a:t>
            </a:r>
            <a:endParaRPr lang="en-US" sz="800" dirty="0"/>
          </a:p>
        </p:txBody>
      </p:sp>
      <p:sp>
        <p:nvSpPr>
          <p:cNvPr id="40" name="Shape 35"/>
          <p:cNvSpPr/>
          <p:nvPr/>
        </p:nvSpPr>
        <p:spPr>
          <a:xfrm>
            <a:off x="4069080" y="3785616"/>
            <a:ext cx="960120" cy="274320"/>
          </a:xfrm>
          <a:prstGeom prst="rect">
            <a:avLst/>
          </a:prstGeom>
          <a:solidFill>
            <a:srgbClr val="E9ECEF"/>
          </a:solidFill>
          <a:ln w="12700">
            <a:solidFill>
              <a:srgbClr val="E9ECEF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41" name="Text 36"/>
          <p:cNvSpPr/>
          <p:nvPr/>
        </p:nvSpPr>
        <p:spPr>
          <a:xfrm>
            <a:off x="4069080" y="3785616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Vybrat</a:t>
            </a:r>
            <a:endParaRPr lang="en-US" sz="900" dirty="0"/>
          </a:p>
        </p:txBody>
      </p:sp>
      <p:sp>
        <p:nvSpPr>
          <p:cNvPr id="42" name="Text 37"/>
          <p:cNvSpPr/>
          <p:nvPr/>
        </p:nvSpPr>
        <p:spPr>
          <a:xfrm>
            <a:off x="457200" y="4425696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+ 7 dalších mentorů...</a:t>
            </a:r>
            <a:endParaRPr lang="en-US" sz="950" dirty="0"/>
          </a:p>
        </p:txBody>
      </p:sp>
      <p:sp>
        <p:nvSpPr>
          <p:cNvPr id="43" name="Shape 38"/>
          <p:cNvSpPr/>
          <p:nvPr/>
        </p:nvSpPr>
        <p:spPr>
          <a:xfrm>
            <a:off x="5532120" y="1234440"/>
            <a:ext cx="475488" cy="475488"/>
          </a:xfrm>
          <a:prstGeom prst="line">
            <a:avLst/>
          </a:prstGeom>
          <a:solidFill>
            <a:srgbClr val="0B2B5E"/>
          </a:solidFill>
          <a:ln w="1905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44" name="Text 39"/>
          <p:cNvSpPr/>
          <p:nvPr/>
        </p:nvSpPr>
        <p:spPr>
          <a:xfrm>
            <a:off x="5532120" y="12344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45" name="Text 40"/>
          <p:cNvSpPr/>
          <p:nvPr/>
        </p:nvSpPr>
        <p:spPr>
          <a:xfrm>
            <a:off x="6108192" y="1252728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Vyber mentory</a:t>
            </a:r>
            <a:endParaRPr lang="en-US" sz="1300" dirty="0"/>
          </a:p>
        </p:txBody>
      </p:sp>
      <p:sp>
        <p:nvSpPr>
          <p:cNvPr id="46" name="Text 41"/>
          <p:cNvSpPr/>
          <p:nvPr/>
        </p:nvSpPr>
        <p:spPr>
          <a:xfrm>
            <a:off x="6108192" y="1545336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Vybereš 1–3 mentory z katalogu, seřadíš je dle priority.</a:t>
            </a:r>
            <a:endParaRPr lang="en-US" sz="1150" dirty="0"/>
          </a:p>
        </p:txBody>
      </p:sp>
      <p:pic>
        <p:nvPicPr>
          <p:cNvPr id="4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87568" y="1801368"/>
            <a:ext cx="182880" cy="182880"/>
          </a:xfrm>
          <a:prstGeom prst="rect">
            <a:avLst/>
          </a:prstGeom>
        </p:spPr>
      </p:pic>
      <p:sp>
        <p:nvSpPr>
          <p:cNvPr id="48" name="Shape 42"/>
          <p:cNvSpPr/>
          <p:nvPr/>
        </p:nvSpPr>
        <p:spPr>
          <a:xfrm>
            <a:off x="5532120" y="2423160"/>
            <a:ext cx="475488" cy="475488"/>
          </a:xfrm>
          <a:prstGeom prst="line">
            <a:avLst/>
          </a:prstGeom>
          <a:solidFill>
            <a:srgbClr val="0B2B5E"/>
          </a:solidFill>
          <a:ln w="1905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49" name="Text 43"/>
          <p:cNvSpPr/>
          <p:nvPr/>
        </p:nvSpPr>
        <p:spPr>
          <a:xfrm>
            <a:off x="5532120" y="24231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50" name="Text 44"/>
          <p:cNvSpPr/>
          <p:nvPr/>
        </p:nvSpPr>
        <p:spPr>
          <a:xfrm>
            <a:off x="6108192" y="2441448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Napiš zprávu</a:t>
            </a:r>
            <a:endParaRPr lang="en-US" sz="1300" dirty="0"/>
          </a:p>
        </p:txBody>
      </p:sp>
      <p:sp>
        <p:nvSpPr>
          <p:cNvPr id="51" name="Text 45"/>
          <p:cNvSpPr/>
          <p:nvPr/>
        </p:nvSpPr>
        <p:spPr>
          <a:xfrm>
            <a:off x="6108192" y="2734056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 každému mentorovi přidáš osobní zprávu — proč právě on/ona?</a:t>
            </a:r>
            <a:endParaRPr lang="en-US" sz="1150" dirty="0"/>
          </a:p>
        </p:txBody>
      </p:sp>
      <p:pic>
        <p:nvPicPr>
          <p:cNvPr id="52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87568" y="2990088"/>
            <a:ext cx="182880" cy="182880"/>
          </a:xfrm>
          <a:prstGeom prst="rect">
            <a:avLst/>
          </a:prstGeom>
        </p:spPr>
      </p:pic>
      <p:sp>
        <p:nvSpPr>
          <p:cNvPr id="53" name="Shape 46"/>
          <p:cNvSpPr/>
          <p:nvPr/>
        </p:nvSpPr>
        <p:spPr>
          <a:xfrm>
            <a:off x="5532120" y="3611880"/>
            <a:ext cx="475488" cy="475488"/>
          </a:xfrm>
          <a:prstGeom prst="line">
            <a:avLst/>
          </a:prstGeom>
          <a:solidFill>
            <a:srgbClr val="0B2B5E"/>
          </a:solidFill>
          <a:ln w="1905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54" name="Text 47"/>
          <p:cNvSpPr/>
          <p:nvPr/>
        </p:nvSpPr>
        <p:spPr>
          <a:xfrm>
            <a:off x="5532120" y="36118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55" name="Text 48"/>
          <p:cNvSpPr/>
          <p:nvPr/>
        </p:nvSpPr>
        <p:spPr>
          <a:xfrm>
            <a:off x="6108192" y="3630168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Odeslej žádost</a:t>
            </a:r>
            <a:endParaRPr lang="en-US" sz="1300" dirty="0"/>
          </a:p>
        </p:txBody>
      </p:sp>
      <p:sp>
        <p:nvSpPr>
          <p:cNvPr id="56" name="Text 49"/>
          <p:cNvSpPr/>
          <p:nvPr/>
        </p:nvSpPr>
        <p:spPr>
          <a:xfrm>
            <a:off x="6108192" y="3922776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Systém automaticky odešle žádost prvnímu mentorovi a sleduje průběh za tebe.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C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3" name="Shape 1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4" name="Shape 2"/>
          <p:cNvSpPr/>
          <p:nvPr/>
        </p:nvSpPr>
        <p:spPr>
          <a:xfrm>
            <a:off x="0" y="36576"/>
            <a:ext cx="9144000" cy="768096"/>
          </a:xfrm>
          <a:prstGeom prst="rect">
            <a:avLst/>
          </a:prstGeom>
          <a:solidFill>
            <a:srgbClr val="0B2B5E"/>
          </a:solidFill>
          <a:ln w="12700">
            <a:solidFill>
              <a:srgbClr val="0B2B5E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5" name="Text 3"/>
          <p:cNvSpPr/>
          <p:nvPr/>
        </p:nvSpPr>
        <p:spPr>
          <a:xfrm>
            <a:off x="411480" y="9144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Jak celý proces funguje?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0" y="804672"/>
            <a:ext cx="9144000" cy="4572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7" name="Text 5"/>
          <p:cNvSpPr/>
          <p:nvPr/>
        </p:nvSpPr>
        <p:spPr>
          <a:xfrm>
            <a:off x="411480" y="859536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5E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 "propadavani" -- talent nikdy nezustane bez odpovedi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80060" y="1353312"/>
            <a:ext cx="1417320" cy="1508760"/>
          </a:xfrm>
          <a:prstGeom prst="rect">
            <a:avLst/>
          </a:prstGeom>
          <a:solidFill>
            <a:srgbClr val="D4AF37"/>
          </a:solidFill>
          <a:ln w="19050">
            <a:solidFill>
              <a:srgbClr val="D4AF37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cs-CZ"/>
          </a:p>
        </p:txBody>
      </p:sp>
      <p:sp>
        <p:nvSpPr>
          <p:cNvPr id="10" name="Text 8"/>
          <p:cNvSpPr/>
          <p:nvPr/>
        </p:nvSpPr>
        <p:spPr>
          <a:xfrm>
            <a:off x="937260" y="14630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4AF37"/>
                </a:solidFill>
              </a:rPr>
              <a:t>DR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0060" y="1975104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David Reich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53212" y="2313432"/>
            <a:ext cx="12710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071C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Talent odešle žádost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071C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3 prioritami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1915668" y="2080260"/>
            <a:ext cx="201168" cy="54864"/>
          </a:xfrm>
          <a:prstGeom prst="rect">
            <a:avLst/>
          </a:prstGeom>
          <a:solidFill>
            <a:srgbClr val="6C757D"/>
          </a:solidFill>
          <a:ln w="12700">
            <a:solidFill>
              <a:srgbClr val="6C757D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4" name="Text 12"/>
          <p:cNvSpPr/>
          <p:nvPr/>
        </p:nvSpPr>
        <p:spPr>
          <a:xfrm>
            <a:off x="2043684" y="2016252"/>
            <a:ext cx="1463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C757D"/>
                </a:solidFill>
              </a:rPr>
              <a:t>▶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171700" y="1353312"/>
            <a:ext cx="1417320" cy="1508760"/>
          </a:xfrm>
          <a:prstGeom prst="rect">
            <a:avLst/>
          </a:prstGeom>
          <a:solidFill>
            <a:srgbClr val="153A70"/>
          </a:solidFill>
          <a:ln w="19050">
            <a:solidFill>
              <a:srgbClr val="D4AF37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cs-CZ"/>
          </a:p>
        </p:txBody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28900" y="1426464"/>
            <a:ext cx="475488" cy="475488"/>
          </a:xfrm>
          <a:prstGeom prst="ellipse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2171700" y="1975104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K. Topolová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2244852" y="2313432"/>
            <a:ext cx="12710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F5E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volba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5E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Dostane žádost jako první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3607308" y="2080260"/>
            <a:ext cx="201168" cy="54864"/>
          </a:xfrm>
          <a:prstGeom prst="rect">
            <a:avLst/>
          </a:prstGeom>
          <a:solidFill>
            <a:srgbClr val="6C757D"/>
          </a:solidFill>
          <a:ln w="12700">
            <a:solidFill>
              <a:srgbClr val="6C757D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21" name="Text 18"/>
          <p:cNvSpPr/>
          <p:nvPr/>
        </p:nvSpPr>
        <p:spPr>
          <a:xfrm>
            <a:off x="3735324" y="2016252"/>
            <a:ext cx="1463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C757D"/>
                </a:solidFill>
              </a:rPr>
              <a:t>▶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3863340" y="1353312"/>
            <a:ext cx="1417320" cy="1508760"/>
          </a:xfrm>
          <a:prstGeom prst="rect">
            <a:avLst/>
          </a:prstGeom>
          <a:solidFill>
            <a:srgbClr val="153A70"/>
          </a:solidFill>
          <a:ln w="19050">
            <a:solidFill>
              <a:srgbClr val="D4AF37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cs-CZ"/>
          </a:p>
        </p:txBody>
      </p:sp>
      <p:pic>
        <p:nvPicPr>
          <p:cNvPr id="2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20540" y="1426464"/>
            <a:ext cx="475488" cy="475488"/>
          </a:xfrm>
          <a:prstGeom prst="ellipse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3863340" y="1975104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 Hrudník</a:t>
            </a:r>
            <a:endParaRPr lang="en-US" sz="1150" dirty="0"/>
          </a:p>
        </p:txBody>
      </p:sp>
      <p:sp>
        <p:nvSpPr>
          <p:cNvPr id="26" name="Text 22"/>
          <p:cNvSpPr/>
          <p:nvPr/>
        </p:nvSpPr>
        <p:spPr>
          <a:xfrm>
            <a:off x="3936492" y="2313432"/>
            <a:ext cx="12710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F5E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volba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5E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Pokud 1. odmítne</a:t>
            </a:r>
            <a:endParaRPr lang="en-US" sz="850" dirty="0"/>
          </a:p>
        </p:txBody>
      </p:sp>
      <p:sp>
        <p:nvSpPr>
          <p:cNvPr id="27" name="Shape 23"/>
          <p:cNvSpPr/>
          <p:nvPr/>
        </p:nvSpPr>
        <p:spPr>
          <a:xfrm>
            <a:off x="5298948" y="2080260"/>
            <a:ext cx="201168" cy="54864"/>
          </a:xfrm>
          <a:prstGeom prst="rect">
            <a:avLst/>
          </a:prstGeom>
          <a:solidFill>
            <a:srgbClr val="6C757D"/>
          </a:solidFill>
          <a:ln w="12700">
            <a:solidFill>
              <a:srgbClr val="6C757D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28" name="Text 24"/>
          <p:cNvSpPr/>
          <p:nvPr/>
        </p:nvSpPr>
        <p:spPr>
          <a:xfrm>
            <a:off x="5426964" y="2016252"/>
            <a:ext cx="1463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C757D"/>
                </a:solidFill>
              </a:rPr>
              <a:t>▶</a:t>
            </a:r>
            <a:endParaRPr lang="en-US" sz="900" dirty="0"/>
          </a:p>
        </p:txBody>
      </p:sp>
      <p:sp>
        <p:nvSpPr>
          <p:cNvPr id="29" name="Shape 25"/>
          <p:cNvSpPr/>
          <p:nvPr/>
        </p:nvSpPr>
        <p:spPr>
          <a:xfrm>
            <a:off x="5554980" y="1353312"/>
            <a:ext cx="1417320" cy="1508760"/>
          </a:xfrm>
          <a:prstGeom prst="rect">
            <a:avLst/>
          </a:prstGeom>
          <a:solidFill>
            <a:srgbClr val="153A70"/>
          </a:solidFill>
          <a:ln w="19050">
            <a:solidFill>
              <a:srgbClr val="D4AF37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cs-CZ"/>
          </a:p>
        </p:txBody>
      </p:sp>
      <p:pic>
        <p:nvPicPr>
          <p:cNvPr id="3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12180" y="1426464"/>
            <a:ext cx="475488" cy="475488"/>
          </a:xfrm>
          <a:prstGeom prst="ellipse">
            <a:avLst/>
          </a:prstGeom>
        </p:spPr>
      </p:pic>
      <p:sp>
        <p:nvSpPr>
          <p:cNvPr id="32" name="Text 27"/>
          <p:cNvSpPr/>
          <p:nvPr/>
        </p:nvSpPr>
        <p:spPr>
          <a:xfrm>
            <a:off x="5554980" y="1975104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L. Vorlík</a:t>
            </a:r>
            <a:endParaRPr lang="en-US" sz="1150" dirty="0"/>
          </a:p>
        </p:txBody>
      </p:sp>
      <p:sp>
        <p:nvSpPr>
          <p:cNvPr id="33" name="Text 28"/>
          <p:cNvSpPr/>
          <p:nvPr/>
        </p:nvSpPr>
        <p:spPr>
          <a:xfrm>
            <a:off x="5628132" y="2313432"/>
            <a:ext cx="12710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F5E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volba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5E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Záložní možnost</a:t>
            </a:r>
            <a:endParaRPr lang="en-US" sz="850" dirty="0"/>
          </a:p>
        </p:txBody>
      </p:sp>
      <p:sp>
        <p:nvSpPr>
          <p:cNvPr id="34" name="Shape 29"/>
          <p:cNvSpPr/>
          <p:nvPr/>
        </p:nvSpPr>
        <p:spPr>
          <a:xfrm>
            <a:off x="6990588" y="2080260"/>
            <a:ext cx="201168" cy="54864"/>
          </a:xfrm>
          <a:prstGeom prst="rect">
            <a:avLst/>
          </a:prstGeom>
          <a:solidFill>
            <a:srgbClr val="6C757D"/>
          </a:solidFill>
          <a:ln w="12700">
            <a:solidFill>
              <a:srgbClr val="6C757D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35" name="Text 30"/>
          <p:cNvSpPr/>
          <p:nvPr/>
        </p:nvSpPr>
        <p:spPr>
          <a:xfrm>
            <a:off x="7118604" y="2016252"/>
            <a:ext cx="1463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C757D"/>
                </a:solidFill>
              </a:rPr>
              <a:t>▶</a:t>
            </a:r>
            <a:endParaRPr lang="en-US" sz="900" dirty="0"/>
          </a:p>
        </p:txBody>
      </p:sp>
      <p:sp>
        <p:nvSpPr>
          <p:cNvPr id="36" name="Shape 31"/>
          <p:cNvSpPr/>
          <p:nvPr/>
        </p:nvSpPr>
        <p:spPr>
          <a:xfrm>
            <a:off x="7246620" y="1353312"/>
            <a:ext cx="1417320" cy="1508760"/>
          </a:xfrm>
          <a:prstGeom prst="rect">
            <a:avLst/>
          </a:prstGeom>
          <a:solidFill>
            <a:srgbClr val="5C2C2C"/>
          </a:solidFill>
          <a:ln w="19050">
            <a:solidFill>
              <a:srgbClr val="D4AF37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cs-CZ"/>
          </a:p>
        </p:txBody>
      </p:sp>
      <p:pic>
        <p:nvPicPr>
          <p:cNvPr id="3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22108" y="1463040"/>
            <a:ext cx="438912" cy="438912"/>
          </a:xfrm>
          <a:prstGeom prst="rect">
            <a:avLst/>
          </a:prstGeom>
        </p:spPr>
      </p:pic>
      <p:sp>
        <p:nvSpPr>
          <p:cNvPr id="38" name="Text 32"/>
          <p:cNvSpPr/>
          <p:nvPr/>
        </p:nvSpPr>
        <p:spPr>
          <a:xfrm>
            <a:off x="7246620" y="1975104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Review</a:t>
            </a:r>
            <a:endParaRPr lang="en-US" sz="1150" dirty="0"/>
          </a:p>
        </p:txBody>
      </p:sp>
      <p:sp>
        <p:nvSpPr>
          <p:cNvPr id="39" name="Text 33"/>
          <p:cNvSpPr/>
          <p:nvPr/>
        </p:nvSpPr>
        <p:spPr>
          <a:xfrm>
            <a:off x="7319772" y="2313432"/>
            <a:ext cx="12710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F5E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Záchranná síť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5E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najde alternativu</a:t>
            </a:r>
            <a:endParaRPr lang="en-US" sz="850" dirty="0"/>
          </a:p>
        </p:txBody>
      </p:sp>
      <p:sp>
        <p:nvSpPr>
          <p:cNvPr id="40" name="Shape 34"/>
          <p:cNvSpPr/>
          <p:nvPr/>
        </p:nvSpPr>
        <p:spPr>
          <a:xfrm>
            <a:off x="3145536" y="2999232"/>
            <a:ext cx="54864" cy="54864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41" name="Shape 35"/>
          <p:cNvSpPr/>
          <p:nvPr/>
        </p:nvSpPr>
        <p:spPr>
          <a:xfrm>
            <a:off x="3145536" y="2999232"/>
            <a:ext cx="2852928" cy="54864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42" name="Shape 36"/>
          <p:cNvSpPr/>
          <p:nvPr/>
        </p:nvSpPr>
        <p:spPr>
          <a:xfrm>
            <a:off x="5943600" y="2999232"/>
            <a:ext cx="54864" cy="54864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43" name="Text 37"/>
          <p:cNvSpPr/>
          <p:nvPr/>
        </p:nvSpPr>
        <p:spPr>
          <a:xfrm>
            <a:off x="2926080" y="3547872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Schváleno — HR i talent dostane notifikaci — plánování schůzky</a:t>
            </a:r>
            <a:endParaRPr lang="en-US" sz="1000" dirty="0"/>
          </a:p>
        </p:txBody>
      </p:sp>
      <p:sp>
        <p:nvSpPr>
          <p:cNvPr id="44" name="Text 38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5E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Veškeré notifikace jdou automaticky na HR. Mentoři reagují jediným kliknutím.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3" name="Shape 1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B2B5E"/>
          </a:solidFill>
          <a:ln w="12700">
            <a:solidFill>
              <a:srgbClr val="0B2B5E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5" name="Shape 3"/>
          <p:cNvSpPr/>
          <p:nvPr/>
        </p:nvSpPr>
        <p:spPr>
          <a:xfrm>
            <a:off x="0" y="978408"/>
            <a:ext cx="9144000" cy="64008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6" name="Text 4"/>
          <p:cNvSpPr/>
          <p:nvPr/>
        </p:nvSpPr>
        <p:spPr>
          <a:xfrm>
            <a:off x="411480" y="45720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Pohled mentora — minimum práce, maximum přehledu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11480" y="694944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5E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 vidí žádost teprve tehdy, kdy je skutečně na řadě.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1170432"/>
            <a:ext cx="502920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CEF"/>
            </a:solidFill>
            <a:prstDash val="solid"/>
          </a:ln>
          <a:effectLst>
            <a:outerShdw blurRad="1270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cs-CZ"/>
          </a:p>
        </p:txBody>
      </p:sp>
      <p:sp>
        <p:nvSpPr>
          <p:cNvPr id="9" name="Shape 7"/>
          <p:cNvSpPr/>
          <p:nvPr/>
        </p:nvSpPr>
        <p:spPr>
          <a:xfrm>
            <a:off x="365760" y="1170432"/>
            <a:ext cx="5029200" cy="384048"/>
          </a:xfrm>
          <a:prstGeom prst="rect">
            <a:avLst/>
          </a:prstGeom>
          <a:solidFill>
            <a:srgbClr val="0B2B5E"/>
          </a:solidFill>
          <a:ln w="12700">
            <a:solidFill>
              <a:srgbClr val="0B2B5E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" y="1197864"/>
            <a:ext cx="310896" cy="310896"/>
          </a:xfrm>
          <a:prstGeom prst="ellipse">
            <a:avLst/>
          </a:prstGeom>
        </p:spPr>
      </p:pic>
      <p:sp>
        <p:nvSpPr>
          <p:cNvPr id="12" name="Text 9"/>
          <p:cNvSpPr/>
          <p:nvPr/>
        </p:nvSpPr>
        <p:spPr>
          <a:xfrm>
            <a:off x="822960" y="1188720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K. Topolová  —  Mentor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365760" y="1554480"/>
            <a:ext cx="5029200" cy="36576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4" name="Shape 11"/>
          <p:cNvSpPr/>
          <p:nvPr/>
        </p:nvSpPr>
        <p:spPr>
          <a:xfrm>
            <a:off x="457200" y="1618488"/>
            <a:ext cx="2331720" cy="292608"/>
          </a:xfrm>
          <a:prstGeom prst="rect">
            <a:avLst/>
          </a:prstGeom>
          <a:solidFill>
            <a:srgbClr val="F5ECC0"/>
          </a:solidFill>
          <a:ln w="1905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5" name="Text 12"/>
          <p:cNvSpPr/>
          <p:nvPr/>
        </p:nvSpPr>
        <p:spPr>
          <a:xfrm>
            <a:off x="457200" y="1618488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71C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Čekající žádosti  🔴 2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2880360" y="1618488"/>
            <a:ext cx="2331720" cy="292608"/>
          </a:xfrm>
          <a:prstGeom prst="rect">
            <a:avLst/>
          </a:prstGeom>
          <a:solidFill>
            <a:srgbClr val="E9ECEF"/>
          </a:solidFill>
          <a:ln w="12700">
            <a:solidFill>
              <a:srgbClr val="E9ECEF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7" name="Text 14"/>
          <p:cNvSpPr/>
          <p:nvPr/>
        </p:nvSpPr>
        <p:spPr>
          <a:xfrm>
            <a:off x="2880360" y="1618488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Moje rozhodnutí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457200" y="1993392"/>
            <a:ext cx="4754880" cy="1207008"/>
          </a:xfrm>
          <a:prstGeom prst="rect">
            <a:avLst/>
          </a:prstGeom>
          <a:solidFill>
            <a:srgbClr val="F8F9FA"/>
          </a:solidFill>
          <a:ln w="12700">
            <a:solidFill>
              <a:srgbClr val="E9ECEF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20" name="Text 17"/>
          <p:cNvSpPr/>
          <p:nvPr/>
        </p:nvSpPr>
        <p:spPr>
          <a:xfrm>
            <a:off x="548640" y="21305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4AF37"/>
                </a:solidFill>
              </a:rPr>
              <a:t>JP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978408" y="208483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Jakub Pospíšil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548640" y="23774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"Chci se od vás naučit change management. Vidím vás jako ideálního mentora pro svůj rozvoj."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3749040" y="2286000"/>
            <a:ext cx="841248" cy="27432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24" name="Text 21"/>
          <p:cNvSpPr/>
          <p:nvPr/>
        </p:nvSpPr>
        <p:spPr>
          <a:xfrm>
            <a:off x="3749040" y="2286000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✔ Schválit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3749040" y="2633472"/>
            <a:ext cx="841248" cy="274320"/>
          </a:xfrm>
          <a:prstGeom prst="rect">
            <a:avLst/>
          </a:prstGeom>
          <a:solidFill>
            <a:srgbClr val="CC3333"/>
          </a:solidFill>
          <a:ln w="12700">
            <a:solidFill>
              <a:srgbClr val="CC3333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26" name="Text 23"/>
          <p:cNvSpPr/>
          <p:nvPr/>
        </p:nvSpPr>
        <p:spPr>
          <a:xfrm>
            <a:off x="3749040" y="2633472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✕ Odmítnout</a:t>
            </a:r>
            <a:endParaRPr lang="en-US" sz="850" dirty="0"/>
          </a:p>
        </p:txBody>
      </p:sp>
      <p:sp>
        <p:nvSpPr>
          <p:cNvPr id="27" name="Shape 24"/>
          <p:cNvSpPr/>
          <p:nvPr/>
        </p:nvSpPr>
        <p:spPr>
          <a:xfrm>
            <a:off x="457200" y="3328416"/>
            <a:ext cx="4754880" cy="1207008"/>
          </a:xfrm>
          <a:prstGeom prst="rect">
            <a:avLst/>
          </a:prstGeom>
          <a:solidFill>
            <a:srgbClr val="F8F9FA"/>
          </a:solidFill>
          <a:ln w="12700">
            <a:solidFill>
              <a:srgbClr val="E9ECEF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29" name="Text 26"/>
          <p:cNvSpPr/>
          <p:nvPr/>
        </p:nvSpPr>
        <p:spPr>
          <a:xfrm>
            <a:off x="548640" y="346557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4AF37"/>
                </a:solidFill>
              </a:rPr>
              <a:t>MP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978408" y="341985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Miroslav Pařík</a:t>
            </a:r>
            <a:endParaRPr lang="en-US" sz="1050" dirty="0"/>
          </a:p>
        </p:txBody>
      </p:sp>
      <p:sp>
        <p:nvSpPr>
          <p:cNvPr id="31" name="Text 28"/>
          <p:cNvSpPr/>
          <p:nvPr/>
        </p:nvSpPr>
        <p:spPr>
          <a:xfrm>
            <a:off x="548640" y="3712464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"Zajímá mě váš pohled na networking a propojování lidí. Ráda bych pochopila, jak to děláte..."</a:t>
            </a:r>
            <a:endParaRPr lang="en-US" sz="900" dirty="0"/>
          </a:p>
        </p:txBody>
      </p:sp>
      <p:sp>
        <p:nvSpPr>
          <p:cNvPr id="32" name="Shape 29"/>
          <p:cNvSpPr/>
          <p:nvPr/>
        </p:nvSpPr>
        <p:spPr>
          <a:xfrm>
            <a:off x="3749040" y="3621024"/>
            <a:ext cx="841248" cy="27432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33" name="Text 30"/>
          <p:cNvSpPr/>
          <p:nvPr/>
        </p:nvSpPr>
        <p:spPr>
          <a:xfrm>
            <a:off x="3749040" y="3621024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✔ Schválit</a:t>
            </a:r>
            <a:endParaRPr lang="en-US" sz="850" dirty="0"/>
          </a:p>
        </p:txBody>
      </p:sp>
      <p:sp>
        <p:nvSpPr>
          <p:cNvPr id="34" name="Shape 31"/>
          <p:cNvSpPr/>
          <p:nvPr/>
        </p:nvSpPr>
        <p:spPr>
          <a:xfrm>
            <a:off x="3749040" y="3968496"/>
            <a:ext cx="841248" cy="274320"/>
          </a:xfrm>
          <a:prstGeom prst="rect">
            <a:avLst/>
          </a:prstGeom>
          <a:solidFill>
            <a:srgbClr val="CC3333"/>
          </a:solidFill>
          <a:ln w="12700">
            <a:solidFill>
              <a:srgbClr val="CC3333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35" name="Text 32"/>
          <p:cNvSpPr/>
          <p:nvPr/>
        </p:nvSpPr>
        <p:spPr>
          <a:xfrm>
            <a:off x="3749040" y="3968496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✕ Odmítnout</a:t>
            </a:r>
            <a:endParaRPr lang="en-US" sz="850" dirty="0"/>
          </a:p>
        </p:txBody>
      </p:sp>
      <p:sp>
        <p:nvSpPr>
          <p:cNvPr id="36" name="Text 33"/>
          <p:cNvSpPr/>
          <p:nvPr/>
        </p:nvSpPr>
        <p:spPr>
          <a:xfrm>
            <a:off x="5669280" y="1261872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Proč je to jednoduché pro mentory</a:t>
            </a:r>
            <a:endParaRPr lang="en-US" sz="1400" dirty="0"/>
          </a:p>
        </p:txBody>
      </p:sp>
      <p:pic>
        <p:nvPicPr>
          <p:cNvPr id="3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0" y="1755648"/>
            <a:ext cx="347472" cy="347472"/>
          </a:xfrm>
          <a:prstGeom prst="rect">
            <a:avLst/>
          </a:prstGeom>
        </p:spPr>
      </p:pic>
      <p:sp>
        <p:nvSpPr>
          <p:cNvPr id="38" name="Text 34"/>
          <p:cNvSpPr/>
          <p:nvPr/>
        </p:nvSpPr>
        <p:spPr>
          <a:xfrm>
            <a:off x="6108192" y="1709928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Vidí jen žádosti, které jsou na něm -- žádný info-noise</a:t>
            </a:r>
            <a:endParaRPr lang="en-US" sz="1200" dirty="0"/>
          </a:p>
        </p:txBody>
      </p:sp>
      <p:pic>
        <p:nvPicPr>
          <p:cNvPr id="3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280" y="2596896"/>
            <a:ext cx="347472" cy="347472"/>
          </a:xfrm>
          <a:prstGeom prst="rect">
            <a:avLst/>
          </a:prstGeom>
        </p:spPr>
      </p:pic>
      <p:sp>
        <p:nvSpPr>
          <p:cNvPr id="40" name="Text 35"/>
          <p:cNvSpPr/>
          <p:nvPr/>
        </p:nvSpPr>
        <p:spPr>
          <a:xfrm>
            <a:off x="6108192" y="2551176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Jediné kliknutí pro schválení nebo odmítnutí</a:t>
            </a:r>
            <a:endParaRPr lang="en-US" sz="1200" dirty="0"/>
          </a:p>
        </p:txBody>
      </p:sp>
      <p:pic>
        <p:nvPicPr>
          <p:cNvPr id="4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69280" y="3438144"/>
            <a:ext cx="347472" cy="347472"/>
          </a:xfrm>
          <a:prstGeom prst="rect">
            <a:avLst/>
          </a:prstGeom>
        </p:spPr>
      </p:pic>
      <p:sp>
        <p:nvSpPr>
          <p:cNvPr id="42" name="Text 36"/>
          <p:cNvSpPr/>
          <p:nvPr/>
        </p:nvSpPr>
        <p:spPr>
          <a:xfrm>
            <a:off x="6108192" y="3392424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dostane notifikaci automaticky za každý krok</a:t>
            </a:r>
            <a:endParaRPr lang="en-US" sz="1200" dirty="0"/>
          </a:p>
        </p:txBody>
      </p:sp>
      <p:pic>
        <p:nvPicPr>
          <p:cNvPr id="4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69280" y="4279392"/>
            <a:ext cx="347472" cy="347472"/>
          </a:xfrm>
          <a:prstGeom prst="rect">
            <a:avLst/>
          </a:prstGeom>
        </p:spPr>
      </p:pic>
      <p:sp>
        <p:nvSpPr>
          <p:cNvPr id="44" name="Text 37"/>
          <p:cNvSpPr/>
          <p:nvPr/>
        </p:nvSpPr>
        <p:spPr>
          <a:xfrm>
            <a:off x="6108192" y="4233672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Historie rozhodnutí vždy k dispozici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3" name="Shape 1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B2B5E"/>
          </a:solidFill>
          <a:ln w="12700">
            <a:solidFill>
              <a:srgbClr val="0B2B5E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5" name="Shape 3"/>
          <p:cNvSpPr/>
          <p:nvPr/>
        </p:nvSpPr>
        <p:spPr>
          <a:xfrm>
            <a:off x="0" y="978408"/>
            <a:ext cx="9144000" cy="64008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6" name="Text 4"/>
          <p:cNvSpPr/>
          <p:nvPr/>
        </p:nvSpPr>
        <p:spPr>
          <a:xfrm>
            <a:off x="411480" y="45720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Admin panel — kompletní přehled a kontrola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11480" y="694944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5E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Admin vidí celý proces. Přehledně. Bez e-mailového chaosu.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1234440"/>
            <a:ext cx="1627632" cy="329184"/>
          </a:xfrm>
          <a:prstGeom prst="rect">
            <a:avLst/>
          </a:prstGeom>
          <a:solidFill>
            <a:srgbClr val="0B2B5E"/>
          </a:solidFill>
          <a:ln w="12700">
            <a:solidFill>
              <a:srgbClr val="0B2B5E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9" name="Text 7"/>
          <p:cNvSpPr/>
          <p:nvPr/>
        </p:nvSpPr>
        <p:spPr>
          <a:xfrm>
            <a:off x="411480" y="1234440"/>
            <a:ext cx="15361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Mentees dashboard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048256" y="1234440"/>
            <a:ext cx="1627632" cy="329184"/>
          </a:xfrm>
          <a:prstGeom prst="rect">
            <a:avLst/>
          </a:prstGeom>
          <a:solidFill>
            <a:srgbClr val="E9ECEF"/>
          </a:solidFill>
          <a:ln w="12700">
            <a:solidFill>
              <a:srgbClr val="E9ECEF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1" name="Text 9"/>
          <p:cNvSpPr/>
          <p:nvPr/>
        </p:nvSpPr>
        <p:spPr>
          <a:xfrm>
            <a:off x="2093976" y="1234440"/>
            <a:ext cx="15361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Domluvené mentoringy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730752" y="1234440"/>
            <a:ext cx="1627632" cy="329184"/>
          </a:xfrm>
          <a:prstGeom prst="rect">
            <a:avLst/>
          </a:prstGeom>
          <a:solidFill>
            <a:srgbClr val="E9ECEF"/>
          </a:solidFill>
          <a:ln w="12700">
            <a:solidFill>
              <a:srgbClr val="E9ECEF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3" name="Text 11"/>
          <p:cNvSpPr/>
          <p:nvPr/>
        </p:nvSpPr>
        <p:spPr>
          <a:xfrm>
            <a:off x="3776472" y="1234440"/>
            <a:ext cx="15361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Správa mentorů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5413248" y="1234440"/>
            <a:ext cx="1627632" cy="329184"/>
          </a:xfrm>
          <a:prstGeom prst="rect">
            <a:avLst/>
          </a:prstGeom>
          <a:solidFill>
            <a:srgbClr val="E9ECEF"/>
          </a:solidFill>
          <a:ln w="12700">
            <a:solidFill>
              <a:srgbClr val="E9ECEF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5" name="Text 13"/>
          <p:cNvSpPr/>
          <p:nvPr/>
        </p:nvSpPr>
        <p:spPr>
          <a:xfrm>
            <a:off x="5458968" y="1234440"/>
            <a:ext cx="15361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Správa talentů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7095744" y="1234440"/>
            <a:ext cx="1627632" cy="329184"/>
          </a:xfrm>
          <a:prstGeom prst="rect">
            <a:avLst/>
          </a:prstGeom>
          <a:solidFill>
            <a:srgbClr val="E9ECEF"/>
          </a:solidFill>
          <a:ln w="12700">
            <a:solidFill>
              <a:srgbClr val="E9ECEF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7" name="Text 15"/>
          <p:cNvSpPr/>
          <p:nvPr/>
        </p:nvSpPr>
        <p:spPr>
          <a:xfrm>
            <a:off x="7141464" y="1234440"/>
            <a:ext cx="15361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Kapacitní dashboard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365760" y="1563624"/>
            <a:ext cx="8412480" cy="36576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9" name="Shape 17"/>
          <p:cNvSpPr/>
          <p:nvPr/>
        </p:nvSpPr>
        <p:spPr>
          <a:xfrm>
            <a:off x="365760" y="1719072"/>
            <a:ext cx="1920240" cy="960120"/>
          </a:xfrm>
          <a:prstGeom prst="rect">
            <a:avLst/>
          </a:prstGeom>
          <a:solidFill>
            <a:srgbClr val="0B2B5E"/>
          </a:solidFill>
          <a:ln w="12700">
            <a:solidFill>
              <a:srgbClr val="0B2B5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cs-CZ"/>
          </a:p>
        </p:txBody>
      </p:sp>
      <p:sp>
        <p:nvSpPr>
          <p:cNvPr id="20" name="Text 18"/>
          <p:cNvSpPr/>
          <p:nvPr/>
        </p:nvSpPr>
        <p:spPr>
          <a:xfrm>
            <a:off x="365760" y="1810512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</a:t>
            </a:r>
            <a:endParaRPr lang="en-US" sz="3200" dirty="0"/>
          </a:p>
        </p:txBody>
      </p:sp>
      <p:sp>
        <p:nvSpPr>
          <p:cNvPr id="21" name="Text 19"/>
          <p:cNvSpPr/>
          <p:nvPr/>
        </p:nvSpPr>
        <p:spPr>
          <a:xfrm>
            <a:off x="365760" y="226771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D4AF37"/>
                </a:solidFill>
              </a:rPr>
              <a:t>Celkem žádostí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65760" y="2487168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50" dirty="0">
                <a:solidFill>
                  <a:srgbClr val="D4AF37"/>
                </a:solidFill>
              </a:rPr>
              <a:t>v aktuálním cyklu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2450592" y="1719072"/>
            <a:ext cx="1920240" cy="960120"/>
          </a:xfrm>
          <a:prstGeom prst="rect">
            <a:avLst/>
          </a:prstGeom>
          <a:solidFill>
            <a:srgbClr val="553300"/>
          </a:solidFill>
          <a:ln w="12700">
            <a:solidFill>
              <a:srgbClr val="55330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cs-CZ"/>
          </a:p>
        </p:txBody>
      </p:sp>
      <p:sp>
        <p:nvSpPr>
          <p:cNvPr id="24" name="Text 22"/>
          <p:cNvSpPr/>
          <p:nvPr/>
        </p:nvSpPr>
        <p:spPr>
          <a:xfrm>
            <a:off x="2450592" y="1810512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5ECC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3200" dirty="0"/>
          </a:p>
        </p:txBody>
      </p:sp>
      <p:sp>
        <p:nvSpPr>
          <p:cNvPr id="25" name="Text 23"/>
          <p:cNvSpPr/>
          <p:nvPr/>
        </p:nvSpPr>
        <p:spPr>
          <a:xfrm>
            <a:off x="2450592" y="226771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5ECC0"/>
                </a:solidFill>
              </a:rPr>
              <a:t>Čeká na rozhodnutí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2450592" y="2487168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50" dirty="0">
                <a:solidFill>
                  <a:srgbClr val="F5ECC0"/>
                </a:solidFill>
              </a:rPr>
              <a:t>u mentorů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365760" y="2816352"/>
            <a:ext cx="1920240" cy="96012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cs-CZ"/>
          </a:p>
        </p:txBody>
      </p:sp>
      <p:sp>
        <p:nvSpPr>
          <p:cNvPr id="28" name="Text 26"/>
          <p:cNvSpPr/>
          <p:nvPr/>
        </p:nvSpPr>
        <p:spPr>
          <a:xfrm>
            <a:off x="365760" y="2907792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3200" dirty="0"/>
          </a:p>
        </p:txBody>
      </p:sp>
      <p:sp>
        <p:nvSpPr>
          <p:cNvPr id="29" name="Text 27"/>
          <p:cNvSpPr/>
          <p:nvPr/>
        </p:nvSpPr>
        <p:spPr>
          <a:xfrm>
            <a:off x="365760" y="336499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Schváleno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365760" y="3584448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</a:rPr>
              <a:t>aktivních mentoringů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2450592" y="2816352"/>
            <a:ext cx="1920240" cy="960120"/>
          </a:xfrm>
          <a:prstGeom prst="rect">
            <a:avLst/>
          </a:prstGeom>
          <a:solidFill>
            <a:srgbClr val="882222"/>
          </a:solidFill>
          <a:ln w="12700">
            <a:solidFill>
              <a:srgbClr val="882222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cs-CZ"/>
          </a:p>
        </p:txBody>
      </p:sp>
      <p:sp>
        <p:nvSpPr>
          <p:cNvPr id="32" name="Text 30"/>
          <p:cNvSpPr/>
          <p:nvPr/>
        </p:nvSpPr>
        <p:spPr>
          <a:xfrm>
            <a:off x="2450592" y="2907792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3200" dirty="0"/>
          </a:p>
        </p:txBody>
      </p:sp>
      <p:sp>
        <p:nvSpPr>
          <p:cNvPr id="33" name="Text 31"/>
          <p:cNvSpPr/>
          <p:nvPr/>
        </p:nvSpPr>
        <p:spPr>
          <a:xfrm>
            <a:off x="2450592" y="336499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HR Review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2450592" y="3584448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</a:rPr>
              <a:t>vyžaduje pozornost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4663440" y="1691640"/>
            <a:ext cx="4251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B5E"/>
                </a:solidFill>
              </a:rPr>
              <a:t>Co HR Admin vidí a ovládá</a:t>
            </a:r>
            <a:endParaRPr lang="en-US" sz="1400" dirty="0"/>
          </a:p>
        </p:txBody>
      </p:sp>
      <p:pic>
        <p:nvPicPr>
          <p:cNvPr id="3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440" y="2103120"/>
            <a:ext cx="292608" cy="292608"/>
          </a:xfrm>
          <a:prstGeom prst="rect">
            <a:avLst/>
          </a:prstGeom>
        </p:spPr>
      </p:pic>
      <p:sp>
        <p:nvSpPr>
          <p:cNvPr id="37" name="Text 34"/>
          <p:cNvSpPr/>
          <p:nvPr/>
        </p:nvSpPr>
        <p:spPr>
          <a:xfrm>
            <a:off x="5047488" y="2066544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Filtrování a vyhledávání v mentees</a:t>
            </a:r>
            <a:endParaRPr lang="en-US" sz="1200" dirty="0"/>
          </a:p>
        </p:txBody>
      </p:sp>
      <p:pic>
        <p:nvPicPr>
          <p:cNvPr id="3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0" y="2743200"/>
            <a:ext cx="292608" cy="292608"/>
          </a:xfrm>
          <a:prstGeom prst="rect">
            <a:avLst/>
          </a:prstGeom>
        </p:spPr>
      </p:pic>
      <p:sp>
        <p:nvSpPr>
          <p:cNvPr id="39" name="Text 35"/>
          <p:cNvSpPr/>
          <p:nvPr/>
        </p:nvSpPr>
        <p:spPr>
          <a:xfrm>
            <a:off x="5047488" y="2706624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Plný audit trail každého rozhodnutí</a:t>
            </a:r>
            <a:endParaRPr lang="en-US" sz="1200" dirty="0"/>
          </a:p>
        </p:txBody>
      </p:sp>
      <p:pic>
        <p:nvPicPr>
          <p:cNvPr id="4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3440" y="3383280"/>
            <a:ext cx="292608" cy="292608"/>
          </a:xfrm>
          <a:prstGeom prst="rect">
            <a:avLst/>
          </a:prstGeom>
        </p:spPr>
      </p:pic>
      <p:sp>
        <p:nvSpPr>
          <p:cNvPr id="41" name="Text 36"/>
          <p:cNvSpPr/>
          <p:nvPr/>
        </p:nvSpPr>
        <p:spPr>
          <a:xfrm>
            <a:off x="5047488" y="3346704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Správa talentů — aktivní/neaktivní</a:t>
            </a:r>
            <a:endParaRPr lang="en-US" sz="1200" dirty="0"/>
          </a:p>
        </p:txBody>
      </p:sp>
      <p:pic>
        <p:nvPicPr>
          <p:cNvPr id="4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63440" y="4023360"/>
            <a:ext cx="292608" cy="292608"/>
          </a:xfrm>
          <a:prstGeom prst="rect">
            <a:avLst/>
          </a:prstGeom>
        </p:spPr>
      </p:pic>
      <p:sp>
        <p:nvSpPr>
          <p:cNvPr id="43" name="Text 37"/>
          <p:cNvSpPr/>
          <p:nvPr/>
        </p:nvSpPr>
        <p:spPr>
          <a:xfrm>
            <a:off x="5047488" y="3986784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Správa mentorů — přidávání, editace, foto</a:t>
            </a:r>
            <a:endParaRPr lang="en-US" sz="1200" dirty="0"/>
          </a:p>
        </p:txBody>
      </p:sp>
      <p:pic>
        <p:nvPicPr>
          <p:cNvPr id="4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63440" y="4663440"/>
            <a:ext cx="292608" cy="292608"/>
          </a:xfrm>
          <a:prstGeom prst="rect">
            <a:avLst/>
          </a:prstGeom>
        </p:spPr>
      </p:pic>
      <p:sp>
        <p:nvSpPr>
          <p:cNvPr id="45" name="Text 38"/>
          <p:cNvSpPr/>
          <p:nvPr/>
        </p:nvSpPr>
        <p:spPr>
          <a:xfrm>
            <a:off x="5047488" y="4626864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Kapacitní dashboard — kdo je vytížen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1C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3" name="Shape 1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4" name="Shape 2"/>
          <p:cNvSpPr/>
          <p:nvPr/>
        </p:nvSpPr>
        <p:spPr>
          <a:xfrm>
            <a:off x="0" y="36576"/>
            <a:ext cx="9144000" cy="768096"/>
          </a:xfrm>
          <a:prstGeom prst="rect">
            <a:avLst/>
          </a:prstGeom>
          <a:solidFill>
            <a:srgbClr val="0B2B5E"/>
          </a:solidFill>
          <a:ln w="12700">
            <a:solidFill>
              <a:srgbClr val="0B2B5E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5" name="Text 3"/>
          <p:cNvSpPr/>
          <p:nvPr/>
        </p:nvSpPr>
        <p:spPr>
          <a:xfrm>
            <a:off x="411480" y="9144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Kdo z toho profituje?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0" y="804672"/>
            <a:ext cx="9144000" cy="4572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7" name="Text 5"/>
          <p:cNvSpPr/>
          <p:nvPr/>
        </p:nvSpPr>
        <p:spPr>
          <a:xfrm>
            <a:off x="411480" y="859536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5E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přináší hodnotu na každé úrovni organizace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" y="1298448"/>
            <a:ext cx="2715768" cy="3520440"/>
          </a:xfrm>
          <a:prstGeom prst="rect">
            <a:avLst/>
          </a:prstGeom>
          <a:solidFill>
            <a:srgbClr val="153A70"/>
          </a:solidFill>
          <a:ln w="12700">
            <a:solidFill>
              <a:srgbClr val="D4AF37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cs-CZ"/>
          </a:p>
        </p:txBody>
      </p:sp>
      <p:sp>
        <p:nvSpPr>
          <p:cNvPr id="9" name="Shape 7"/>
          <p:cNvSpPr/>
          <p:nvPr/>
        </p:nvSpPr>
        <p:spPr>
          <a:xfrm>
            <a:off x="320040" y="1298448"/>
            <a:ext cx="2715768" cy="54864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7320" y="1444752"/>
            <a:ext cx="457200" cy="4572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429768" y="1956816"/>
            <a:ext cx="24963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Talenti (Mentees)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29768" y="2377440"/>
            <a:ext cx="249631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F5E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Přístup k lídrům, kteří jsou jinak nedostupní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F5E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Jasný přehled o stavu své žádosti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F5E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Respektující a důstojné rozhraní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F5E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Nikdy nezůstanou bez odpovědi (záchranná síť HR)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3200400" y="1298448"/>
            <a:ext cx="2715768" cy="3520440"/>
          </a:xfrm>
          <a:prstGeom prst="rect">
            <a:avLst/>
          </a:prstGeom>
          <a:solidFill>
            <a:srgbClr val="153A70"/>
          </a:solidFill>
          <a:ln w="12700">
            <a:solidFill>
              <a:srgbClr val="D4AF37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cs-CZ"/>
          </a:p>
        </p:txBody>
      </p:sp>
      <p:sp>
        <p:nvSpPr>
          <p:cNvPr id="14" name="Shape 11"/>
          <p:cNvSpPr/>
          <p:nvPr/>
        </p:nvSpPr>
        <p:spPr>
          <a:xfrm>
            <a:off x="3200400" y="1298448"/>
            <a:ext cx="2715768" cy="54864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7680" y="1444752"/>
            <a:ext cx="457200" cy="45720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310128" y="1956816"/>
            <a:ext cx="24963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Mentoři (Management)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3310128" y="2377440"/>
            <a:ext cx="249631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F5E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Minimální časová zátěž -- 1 klik pro rozhodnutí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F5E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Vidí jen to, co je relevantní pro ně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F5E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Žádné urgence e-mailem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F5E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Mohou aktivně formovat talenty firmy</a:t>
            </a:r>
            <a:endParaRPr lang="en-US" sz="1150" dirty="0"/>
          </a:p>
        </p:txBody>
      </p:sp>
      <p:sp>
        <p:nvSpPr>
          <p:cNvPr id="18" name="Shape 14"/>
          <p:cNvSpPr/>
          <p:nvPr/>
        </p:nvSpPr>
        <p:spPr>
          <a:xfrm>
            <a:off x="6080760" y="1298448"/>
            <a:ext cx="2715768" cy="3520440"/>
          </a:xfrm>
          <a:prstGeom prst="rect">
            <a:avLst/>
          </a:prstGeom>
          <a:solidFill>
            <a:srgbClr val="153A70"/>
          </a:solidFill>
          <a:ln w="12700">
            <a:solidFill>
              <a:srgbClr val="D4AF37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cs-CZ"/>
          </a:p>
        </p:txBody>
      </p:sp>
      <p:sp>
        <p:nvSpPr>
          <p:cNvPr id="19" name="Shape 15"/>
          <p:cNvSpPr/>
          <p:nvPr/>
        </p:nvSpPr>
        <p:spPr>
          <a:xfrm>
            <a:off x="6080760" y="1298448"/>
            <a:ext cx="2715768" cy="54864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78040" y="1444752"/>
            <a:ext cx="457200" cy="45720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190488" y="1956816"/>
            <a:ext cx="24963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Admin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6190488" y="2377440"/>
            <a:ext cx="249631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F5E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Kompletní přehled a audit trail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F5E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Žádné ruční přeposílání žádostí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F5E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pro strategické HR plánování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F5E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Záchranná síť -- nikdo nezůstane bez mentora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3" name="Shape 1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B2B5E"/>
          </a:solidFill>
          <a:ln w="12700">
            <a:solidFill>
              <a:srgbClr val="0B2B5E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5" name="Shape 3"/>
          <p:cNvSpPr/>
          <p:nvPr/>
        </p:nvSpPr>
        <p:spPr>
          <a:xfrm>
            <a:off x="0" y="978408"/>
            <a:ext cx="9144000" cy="64008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6" name="Text 4"/>
          <p:cNvSpPr/>
          <p:nvPr/>
        </p:nvSpPr>
        <p:spPr>
          <a:xfrm>
            <a:off x="411480" y="45720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Proč je provoz jednoduchý a efektivní?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11480" y="694944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5E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Zero-overhead architektura -- žádné další náklady, žádné nové systémy.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298448"/>
            <a:ext cx="260604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CEF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cs-CZ"/>
          </a:p>
        </p:txBody>
      </p:sp>
      <p:sp>
        <p:nvSpPr>
          <p:cNvPr id="9" name="Shape 7"/>
          <p:cNvSpPr/>
          <p:nvPr/>
        </p:nvSpPr>
        <p:spPr>
          <a:xfrm>
            <a:off x="457200" y="1298448"/>
            <a:ext cx="2606040" cy="1097280"/>
          </a:xfrm>
          <a:prstGeom prst="rect">
            <a:avLst/>
          </a:prstGeom>
          <a:solidFill>
            <a:srgbClr val="0B2B5E"/>
          </a:solidFill>
          <a:ln w="12700">
            <a:solidFill>
              <a:srgbClr val="0B2B5E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4752" y="1463040"/>
            <a:ext cx="566928" cy="56692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66928" y="2450592"/>
            <a:ext cx="23865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Žádné extra náklady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621792" y="2944368"/>
            <a:ext cx="2276856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Aplikace běží přímo v SharePointu Aures Holdings. Nevyžaduje žádné nové servery, databáze ani placené Power Automate toky.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3291840" y="1298448"/>
            <a:ext cx="260604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CEF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cs-CZ"/>
          </a:p>
        </p:txBody>
      </p:sp>
      <p:sp>
        <p:nvSpPr>
          <p:cNvPr id="14" name="Shape 11"/>
          <p:cNvSpPr/>
          <p:nvPr/>
        </p:nvSpPr>
        <p:spPr>
          <a:xfrm>
            <a:off x="3291840" y="1298448"/>
            <a:ext cx="2606040" cy="1097280"/>
          </a:xfrm>
          <a:prstGeom prst="rect">
            <a:avLst/>
          </a:prstGeom>
          <a:solidFill>
            <a:srgbClr val="0B2B5E"/>
          </a:solidFill>
          <a:ln w="12700">
            <a:solidFill>
              <a:srgbClr val="0B2B5E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79392" y="1463040"/>
            <a:ext cx="566928" cy="566928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401568" y="2450592"/>
            <a:ext cx="23865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Vše v prohlížeči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3456432" y="2944368"/>
            <a:ext cx="2276856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Celá business logika (fall-through, notifikace, rozhodování) běží přímo v aplikaci bez externího backendu.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6126480" y="1298448"/>
            <a:ext cx="260604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CEF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cs-CZ"/>
          </a:p>
        </p:txBody>
      </p:sp>
      <p:sp>
        <p:nvSpPr>
          <p:cNvPr id="19" name="Shape 15"/>
          <p:cNvSpPr/>
          <p:nvPr/>
        </p:nvSpPr>
        <p:spPr>
          <a:xfrm>
            <a:off x="6126480" y="1298448"/>
            <a:ext cx="2606040" cy="1097280"/>
          </a:xfrm>
          <a:prstGeom prst="rect">
            <a:avLst/>
          </a:prstGeom>
          <a:solidFill>
            <a:srgbClr val="0B2B5E"/>
          </a:solidFill>
          <a:ln w="12700">
            <a:solidFill>
              <a:srgbClr val="0B2B5E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14032" y="1463040"/>
            <a:ext cx="566928" cy="566928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236208" y="2450592"/>
            <a:ext cx="23865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Rychlé nasazení</a:t>
            </a:r>
            <a:endParaRPr lang="en-US" sz="1400" dirty="0"/>
          </a:p>
        </p:txBody>
      </p:sp>
      <p:sp>
        <p:nvSpPr>
          <p:cNvPr id="22" name="Text 17"/>
          <p:cNvSpPr/>
          <p:nvPr/>
        </p:nvSpPr>
        <p:spPr>
          <a:xfrm>
            <a:off x="6291072" y="2944368"/>
            <a:ext cx="2276856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Aplikace je připravena ve formátu .sppkg a předána IT týmu k nasazení do App Catalogu SharePointu.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365760" y="4773168"/>
            <a:ext cx="8412480" cy="301752"/>
          </a:xfrm>
          <a:prstGeom prst="rect">
            <a:avLst/>
          </a:prstGeom>
          <a:solidFill>
            <a:srgbClr val="0B2B5E"/>
          </a:solidFill>
          <a:ln w="12700">
            <a:solidFill>
              <a:srgbClr val="0B2B5E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24" name="Text 19"/>
          <p:cNvSpPr/>
          <p:nvPr/>
        </p:nvSpPr>
        <p:spPr>
          <a:xfrm>
            <a:off x="457200" y="4773168"/>
            <a:ext cx="8229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5E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Přístup je řízen přes SharePoint Groups — IT nepotřebuje pro každého nového talenta žádný zásah do kódu.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71C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3" name="Shape 1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4" name="Shape 2"/>
          <p:cNvSpPr/>
          <p:nvPr/>
        </p:nvSpPr>
        <p:spPr>
          <a:xfrm>
            <a:off x="0" y="36576"/>
            <a:ext cx="4572000" cy="5070348"/>
          </a:xfrm>
          <a:prstGeom prst="rect">
            <a:avLst/>
          </a:prstGeom>
          <a:solidFill>
            <a:srgbClr val="153A70"/>
          </a:solidFill>
          <a:ln w="12700">
            <a:solidFill>
              <a:srgbClr val="153A70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5" name="Shape 3"/>
          <p:cNvSpPr/>
          <p:nvPr/>
        </p:nvSpPr>
        <p:spPr>
          <a:xfrm>
            <a:off x="4553712" y="36576"/>
            <a:ext cx="73152" cy="5070348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6" name="Text 4"/>
          <p:cNvSpPr/>
          <p:nvPr/>
        </p:nvSpPr>
        <p:spPr>
          <a:xfrm>
            <a:off x="274320" y="164592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Talenti 2026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274320" y="5486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F5E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vybraných zaměstnanců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74320" y="850392"/>
            <a:ext cx="3931920" cy="27432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9" name="Shape 7"/>
          <p:cNvSpPr/>
          <p:nvPr/>
        </p:nvSpPr>
        <p:spPr>
          <a:xfrm>
            <a:off x="182880" y="914400"/>
            <a:ext cx="4160520" cy="201168"/>
          </a:xfrm>
          <a:prstGeom prst="rect">
            <a:avLst/>
          </a:prstGeom>
          <a:solidFill>
            <a:srgbClr val="0D3570"/>
          </a:solidFill>
          <a:ln w="12700">
            <a:solidFill>
              <a:srgbClr val="0D3570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0" name="Text 8"/>
          <p:cNvSpPr/>
          <p:nvPr/>
        </p:nvSpPr>
        <p:spPr>
          <a:xfrm>
            <a:off x="320040" y="91440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E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 Gruber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20040" y="112014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E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Anna Blažková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182880" y="1325880"/>
            <a:ext cx="4160520" cy="201168"/>
          </a:xfrm>
          <a:prstGeom prst="rect">
            <a:avLst/>
          </a:prstGeom>
          <a:solidFill>
            <a:srgbClr val="0D3570"/>
          </a:solidFill>
          <a:ln w="12700">
            <a:solidFill>
              <a:srgbClr val="0D3570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3" name="Text 11"/>
          <p:cNvSpPr/>
          <p:nvPr/>
        </p:nvSpPr>
        <p:spPr>
          <a:xfrm>
            <a:off x="320040" y="132588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E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Daniel Svoboda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20040" y="153162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E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David Reich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182880" y="1737360"/>
            <a:ext cx="4160520" cy="201168"/>
          </a:xfrm>
          <a:prstGeom prst="rect">
            <a:avLst/>
          </a:prstGeom>
          <a:solidFill>
            <a:srgbClr val="0D3570"/>
          </a:solidFill>
          <a:ln w="12700">
            <a:solidFill>
              <a:srgbClr val="0D3570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6" name="Text 14"/>
          <p:cNvSpPr/>
          <p:nvPr/>
        </p:nvSpPr>
        <p:spPr>
          <a:xfrm>
            <a:off x="320040" y="173736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E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Dušan Procházka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20040" y="194310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E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Jakub Matuška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182880" y="2148840"/>
            <a:ext cx="4160520" cy="201168"/>
          </a:xfrm>
          <a:prstGeom prst="rect">
            <a:avLst/>
          </a:prstGeom>
          <a:solidFill>
            <a:srgbClr val="0D3570"/>
          </a:solidFill>
          <a:ln w="12700">
            <a:solidFill>
              <a:srgbClr val="0D3570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9" name="Text 17"/>
          <p:cNvSpPr/>
          <p:nvPr/>
        </p:nvSpPr>
        <p:spPr>
          <a:xfrm>
            <a:off x="320040" y="214884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E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Jakub Pospíšil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20040" y="235458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E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Jakub Strouhal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182880" y="2560320"/>
            <a:ext cx="4160520" cy="201168"/>
          </a:xfrm>
          <a:prstGeom prst="rect">
            <a:avLst/>
          </a:prstGeom>
          <a:solidFill>
            <a:srgbClr val="0D3570"/>
          </a:solidFill>
          <a:ln w="12700">
            <a:solidFill>
              <a:srgbClr val="0D3570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22" name="Text 20"/>
          <p:cNvSpPr/>
          <p:nvPr/>
        </p:nvSpPr>
        <p:spPr>
          <a:xfrm>
            <a:off x="320040" y="256032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E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Kryl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20040" y="276606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E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Jarosław Skiba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182880" y="2971800"/>
            <a:ext cx="4160520" cy="201168"/>
          </a:xfrm>
          <a:prstGeom prst="rect">
            <a:avLst/>
          </a:prstGeom>
          <a:solidFill>
            <a:srgbClr val="0D3570"/>
          </a:solidFill>
          <a:ln w="12700">
            <a:solidFill>
              <a:srgbClr val="0D3570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25" name="Text 23"/>
          <p:cNvSpPr/>
          <p:nvPr/>
        </p:nvSpPr>
        <p:spPr>
          <a:xfrm>
            <a:off x="320040" y="297180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E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Jiří Kamír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320040" y="317754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E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Lucie Horáčková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182880" y="3383280"/>
            <a:ext cx="4160520" cy="201168"/>
          </a:xfrm>
          <a:prstGeom prst="rect">
            <a:avLst/>
          </a:prstGeom>
          <a:solidFill>
            <a:srgbClr val="0D3570"/>
          </a:solidFill>
          <a:ln w="12700">
            <a:solidFill>
              <a:srgbClr val="0D3570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28" name="Text 26"/>
          <p:cNvSpPr/>
          <p:nvPr/>
        </p:nvSpPr>
        <p:spPr>
          <a:xfrm>
            <a:off x="320040" y="338328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E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Marcel Ronge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2331720" y="914400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E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Marek Blahák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2331720" y="1120140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E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Martin Janovský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2331720" y="1325880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E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Martin Šimánek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2331720" y="1531620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E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Michal Gabrhel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2331720" y="1737360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E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Miroslav Pařík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2331720" y="1943100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E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Ondřej Kratochvíl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2331720" y="2148840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E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Petr Kuchynka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2331720" y="2354580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E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Petr Šanda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2331720" y="2560320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E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Petr Šulc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2331720" y="2766060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E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Robert Šmol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2331720" y="2971800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E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Stanislav Otčenášek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2331720" y="3177540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E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Tomáš Kaprálek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2331720" y="3383280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E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Tomáš Preus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274320" y="4526280"/>
            <a:ext cx="1005840" cy="41148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43" name="Text 41"/>
          <p:cNvSpPr/>
          <p:nvPr/>
        </p:nvSpPr>
        <p:spPr>
          <a:xfrm>
            <a:off x="274320" y="452628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2B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AURES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1417320" y="461772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Elite Mentoring  ·  HR projekt 2026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4892040" y="25603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Další kroky</a:t>
            </a:r>
            <a:endParaRPr lang="en-US" sz="2200" dirty="0"/>
          </a:p>
        </p:txBody>
      </p:sp>
      <p:sp>
        <p:nvSpPr>
          <p:cNvPr id="46" name="Shape 44"/>
          <p:cNvSpPr/>
          <p:nvPr/>
        </p:nvSpPr>
        <p:spPr>
          <a:xfrm>
            <a:off x="4892040" y="914400"/>
            <a:ext cx="457200" cy="457200"/>
          </a:xfrm>
          <a:prstGeom prst="line">
            <a:avLst/>
          </a:prstGeom>
          <a:solidFill>
            <a:srgbClr val="D4AF37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47" name="Text 45"/>
          <p:cNvSpPr/>
          <p:nvPr/>
        </p:nvSpPr>
        <p:spPr>
          <a:xfrm>
            <a:off x="4892040" y="914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2B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5486400" y="96012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(L2) vytvoří SharePoint listy dle specifikace</a:t>
            </a:r>
            <a:endParaRPr lang="en-US" sz="1250" dirty="0"/>
          </a:p>
        </p:txBody>
      </p:sp>
      <p:sp>
        <p:nvSpPr>
          <p:cNvPr id="49" name="Shape 47"/>
          <p:cNvSpPr/>
          <p:nvPr/>
        </p:nvSpPr>
        <p:spPr>
          <a:xfrm>
            <a:off x="5093208" y="1371600"/>
            <a:ext cx="45720" cy="54864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50" name="Shape 48"/>
          <p:cNvSpPr/>
          <p:nvPr/>
        </p:nvSpPr>
        <p:spPr>
          <a:xfrm>
            <a:off x="4892040" y="1920240"/>
            <a:ext cx="457200" cy="457200"/>
          </a:xfrm>
          <a:prstGeom prst="line">
            <a:avLst/>
          </a:prstGeom>
          <a:solidFill>
            <a:srgbClr val="D4AF37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51" name="Text 49"/>
          <p:cNvSpPr/>
          <p:nvPr/>
        </p:nvSpPr>
        <p:spPr>
          <a:xfrm>
            <a:off x="4892040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2B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400" dirty="0"/>
          </a:p>
        </p:txBody>
      </p:sp>
      <p:sp>
        <p:nvSpPr>
          <p:cNvPr id="52" name="Text 50"/>
          <p:cNvSpPr/>
          <p:nvPr/>
        </p:nvSpPr>
        <p:spPr>
          <a:xfrm>
            <a:off x="5486400" y="196596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připraví seznam Talentů a aktivuje Mentory v systému</a:t>
            </a:r>
            <a:endParaRPr lang="en-US" sz="1250" dirty="0"/>
          </a:p>
        </p:txBody>
      </p:sp>
      <p:sp>
        <p:nvSpPr>
          <p:cNvPr id="53" name="Shape 51"/>
          <p:cNvSpPr/>
          <p:nvPr/>
        </p:nvSpPr>
        <p:spPr>
          <a:xfrm>
            <a:off x="5093208" y="2377440"/>
            <a:ext cx="45720" cy="54864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54" name="Shape 52"/>
          <p:cNvSpPr/>
          <p:nvPr/>
        </p:nvSpPr>
        <p:spPr>
          <a:xfrm>
            <a:off x="4892040" y="2926080"/>
            <a:ext cx="457200" cy="457200"/>
          </a:xfrm>
          <a:prstGeom prst="line">
            <a:avLst/>
          </a:prstGeom>
          <a:solidFill>
            <a:srgbClr val="D4AF37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55" name="Text 53"/>
          <p:cNvSpPr/>
          <p:nvPr/>
        </p:nvSpPr>
        <p:spPr>
          <a:xfrm>
            <a:off x="4892040" y="2926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2B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400" dirty="0"/>
          </a:p>
        </p:txBody>
      </p:sp>
      <p:sp>
        <p:nvSpPr>
          <p:cNvPr id="56" name="Text 54"/>
          <p:cNvSpPr/>
          <p:nvPr/>
        </p:nvSpPr>
        <p:spPr>
          <a:xfrm>
            <a:off x="5486400" y="297180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nasadí .sppkg balíček do App Catalogu (SHP tým)</a:t>
            </a:r>
            <a:endParaRPr lang="en-US" sz="1250" dirty="0"/>
          </a:p>
        </p:txBody>
      </p:sp>
      <p:sp>
        <p:nvSpPr>
          <p:cNvPr id="57" name="Shape 55"/>
          <p:cNvSpPr/>
          <p:nvPr/>
        </p:nvSpPr>
        <p:spPr>
          <a:xfrm>
            <a:off x="5093208" y="3383280"/>
            <a:ext cx="45720" cy="54864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58" name="Shape 56"/>
          <p:cNvSpPr/>
          <p:nvPr/>
        </p:nvSpPr>
        <p:spPr>
          <a:xfrm>
            <a:off x="4892040" y="3931920"/>
            <a:ext cx="457200" cy="457200"/>
          </a:xfrm>
          <a:prstGeom prst="line">
            <a:avLst/>
          </a:prstGeom>
          <a:solidFill>
            <a:srgbClr val="D4AF37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59" name="Text 57"/>
          <p:cNvSpPr/>
          <p:nvPr/>
        </p:nvSpPr>
        <p:spPr>
          <a:xfrm>
            <a:off x="4892040" y="3931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2B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400" dirty="0"/>
          </a:p>
        </p:txBody>
      </p:sp>
      <p:sp>
        <p:nvSpPr>
          <p:cNvPr id="60" name="Text 58"/>
          <p:cNvSpPr/>
          <p:nvPr/>
        </p:nvSpPr>
        <p:spPr>
          <a:xfrm>
            <a:off x="5486400" y="397764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Testování na dev site — finální přijetí a spuštění</a:t>
            </a:r>
            <a:endParaRPr lang="en-US" sz="1250" dirty="0"/>
          </a:p>
        </p:txBody>
      </p:sp>
      <p:sp>
        <p:nvSpPr>
          <p:cNvPr id="61" name="Shape 59"/>
          <p:cNvSpPr/>
          <p:nvPr/>
        </p:nvSpPr>
        <p:spPr>
          <a:xfrm>
            <a:off x="4754880" y="4572000"/>
            <a:ext cx="4069080" cy="41148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cs-CZ"/>
          </a:p>
        </p:txBody>
      </p:sp>
      <p:sp>
        <p:nvSpPr>
          <p:cNvPr id="62" name="Text 60"/>
          <p:cNvSpPr/>
          <p:nvPr/>
        </p:nvSpPr>
        <p:spPr>
          <a:xfrm>
            <a:off x="4754880" y="4572000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Připraveno k nasazení. Čekáme na prostředí od IT.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904</Words>
  <Application>Microsoft Office PowerPoint</Application>
  <PresentationFormat>Předvádění na obrazovce (16:9)</PresentationFormat>
  <Paragraphs>216</Paragraphs>
  <Slides>10</Slides>
  <Notes>10</Notes>
  <HiddenSlides>0</HiddenSlides>
  <MMClips>0</MMClips>
  <ScaleCrop>false</ScaleCrop>
  <HeadingPairs>
    <vt:vector size="6" baseType="variant">
      <vt:variant>
        <vt:lpstr>Použitá písma</vt:lpstr>
      </vt:variant>
      <vt:variant>
        <vt:i4>3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10</vt:i4>
      </vt:variant>
    </vt:vector>
  </HeadingPairs>
  <TitlesOfParts>
    <vt:vector size="14" baseType="lpstr">
      <vt:lpstr>Arial</vt:lpstr>
      <vt:lpstr>Calibri</vt:lpstr>
      <vt:lpstr>Georgia</vt:lpstr>
      <vt:lpstr>Office Theme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Aures Elite Mentoring</dc:title>
  <dc:subject>PptxGenJS Presentation</dc:subject>
  <dc:creator>PptxGenJS</dc:creator>
  <cp:lastModifiedBy>Ondrej Dolejs</cp:lastModifiedBy>
  <cp:revision>5</cp:revision>
  <dcterms:created xsi:type="dcterms:W3CDTF">2026-03-14T16:09:58Z</dcterms:created>
  <dcterms:modified xsi:type="dcterms:W3CDTF">2026-03-14T16:18:40Z</dcterms:modified>
</cp:coreProperties>
</file>