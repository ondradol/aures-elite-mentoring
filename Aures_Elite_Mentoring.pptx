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16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5303520" y="36576"/>
            <a:ext cx="3840480" cy="5070348"/>
          </a:xfrm>
          <a:prstGeom prst="rect">
            <a:avLst/>
          </a:prstGeom>
          <a:solidFill>
            <a:srgbClr val="153A70"/>
          </a:solidFill>
          <a:ln w="12700">
            <a:solidFill>
              <a:srgbClr val="153A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5166360" y="36576"/>
            <a:ext cx="73152" cy="50703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502920" y="777240"/>
            <a:ext cx="128016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Mentoring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Propojujeme talenty s top managementem.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Profesionálně, transparentně, bez zbytečného chaosu.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oddělení HR  ·  Aures Holdings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822960"/>
            <a:ext cx="32918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532120" y="868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532120" y="1444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Mentorů z top managementu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148840"/>
            <a:ext cx="32918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5532120" y="2194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532120" y="2770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Talentů v aktuálním cyklu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3474720"/>
            <a:ext cx="32918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53212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532120" y="40965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pro HR v reálném čase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36576"/>
            <a:ext cx="9144000" cy="768096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Aures Elite Mentoring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11480" y="8595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Exkluzivní aplikace uvnitř SharePointu Aures Holdings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651760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/>
          <p:nvPr/>
        </p:nvSpPr>
        <p:spPr>
          <a:xfrm>
            <a:off x="50292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Exkluzivní přístup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0352" y="2852928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Pouze vybraní zaměstnanci (Talenti) mají přístup do systému. Žádné veřejné přihlašování — čistý whitelist.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0" y="1298448"/>
            <a:ext cx="2651760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572768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mentoři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364992" y="2852928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členů top managementu. C-suite, ředitelé zemí, vedoucí divizí. Skuteční vzory s reálnými příběhy.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35040" y="1298448"/>
            <a:ext cx="2651760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5"/>
          <p:cNvSpPr/>
          <p:nvPr/>
        </p:nvSpPr>
        <p:spPr>
          <a:xfrm>
            <a:off x="6035040" y="1298448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6"/>
          <p:cNvSpPr/>
          <p:nvPr/>
        </p:nvSpPr>
        <p:spPr>
          <a:xfrm>
            <a:off x="61722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Automatický proces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199632" y="2852928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e-maily, žádné tabulky. Celý workflow — od žádosti po schválení — plně v systému.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Naši mentoři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lídrů Aures Holdings — každý s vlastním příběhem, rolí a superschopností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182880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10938" r="6562" b="17500"/>
          <a:stretch>
            <a:fillRect/>
          </a:stretch>
        </p:blipFill>
        <p:spPr>
          <a:xfrm>
            <a:off x="594360" y="1298448"/>
            <a:ext cx="841248" cy="841248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37744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Karolína Topolová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37744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co-CEO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956816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Shape 12"/>
          <p:cNvSpPr/>
          <p:nvPr/>
        </p:nvSpPr>
        <p:spPr>
          <a:xfrm>
            <a:off x="1956816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15937" r="4688" b="20625"/>
          <a:stretch>
            <a:fillRect/>
          </a:stretch>
        </p:blipFill>
        <p:spPr>
          <a:xfrm>
            <a:off x="2368296" y="1298448"/>
            <a:ext cx="841248" cy="841248"/>
          </a:xfrm>
          <a:prstGeom prst="ellipse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11680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 Vaněček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011680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co-CEO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730752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Shape 17"/>
          <p:cNvSpPr/>
          <p:nvPr/>
        </p:nvSpPr>
        <p:spPr>
          <a:xfrm>
            <a:off x="3730752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15937" r="7812" b="23750"/>
          <a:stretch>
            <a:fillRect/>
          </a:stretch>
        </p:blipFill>
        <p:spPr>
          <a:xfrm>
            <a:off x="4142232" y="1298448"/>
            <a:ext cx="841248" cy="841248"/>
          </a:xfrm>
          <a:prstGeom prst="ellipse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85616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Hrudník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785616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504688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7" name="Shape 22"/>
          <p:cNvSpPr/>
          <p:nvPr/>
        </p:nvSpPr>
        <p:spPr>
          <a:xfrm>
            <a:off x="5504688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7500" r="9375" b="16875"/>
          <a:stretch>
            <a:fillRect/>
          </a:stretch>
        </p:blipFill>
        <p:spPr>
          <a:xfrm>
            <a:off x="5916168" y="1298448"/>
            <a:ext cx="841248" cy="841248"/>
          </a:xfrm>
          <a:prstGeom prst="ellipse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59552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Luboš Vorlík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5559552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CZ/SK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278624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3" name="Shape 27"/>
          <p:cNvSpPr/>
          <p:nvPr/>
        </p:nvSpPr>
        <p:spPr>
          <a:xfrm>
            <a:off x="7278624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9062" r="22188" b="31250"/>
          <a:stretch>
            <a:fillRect/>
          </a:stretch>
        </p:blipFill>
        <p:spPr>
          <a:xfrm>
            <a:off x="7690104" y="1298448"/>
            <a:ext cx="841248" cy="841248"/>
          </a:xfrm>
          <a:prstGeom prst="ellipse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33488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Luňáček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7333488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Sales Director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182880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9" name="Shape 32"/>
          <p:cNvSpPr/>
          <p:nvPr/>
        </p:nvSpPr>
        <p:spPr>
          <a:xfrm>
            <a:off x="182880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l="9062" r="11562" b="20625"/>
          <a:stretch>
            <a:fillRect/>
          </a:stretch>
        </p:blipFill>
        <p:spPr>
          <a:xfrm>
            <a:off x="594360" y="3054096"/>
            <a:ext cx="841248" cy="841248"/>
          </a:xfrm>
          <a:prstGeom prst="ellipse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37744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Miroslav Vápeník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237744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Poland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1956816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5" name="Shape 37"/>
          <p:cNvSpPr/>
          <p:nvPr/>
        </p:nvSpPr>
        <p:spPr>
          <a:xfrm>
            <a:off x="1956816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 l="18264" r="8679" b="26943"/>
          <a:stretch>
            <a:fillRect/>
          </a:stretch>
        </p:blipFill>
        <p:spPr>
          <a:xfrm>
            <a:off x="2368296" y="3054096"/>
            <a:ext cx="841248" cy="841248"/>
          </a:xfrm>
          <a:prstGeom prst="ellipse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2011680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Voršilková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2011680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HR Officer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3730752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1" name="Shape 42"/>
          <p:cNvSpPr/>
          <p:nvPr/>
        </p:nvSpPr>
        <p:spPr>
          <a:xfrm>
            <a:off x="3730752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rcRect l="10000" b="10000"/>
          <a:stretch>
            <a:fillRect/>
          </a:stretch>
        </p:blipFill>
        <p:spPr>
          <a:xfrm>
            <a:off x="4142232" y="3090672"/>
            <a:ext cx="841248" cy="841248"/>
          </a:xfrm>
          <a:prstGeom prst="ellipse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3785616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Zuzana Voborníková</a:t>
            </a:r>
            <a:endParaRPr lang="en-US" sz="950" dirty="0"/>
          </a:p>
        </p:txBody>
      </p:sp>
      <p:sp>
        <p:nvSpPr>
          <p:cNvPr id="55" name="Text 45"/>
          <p:cNvSpPr/>
          <p:nvPr/>
        </p:nvSpPr>
        <p:spPr>
          <a:xfrm>
            <a:off x="3785616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Staffing Mgr</a:t>
            </a:r>
            <a:endParaRPr lang="en-US" sz="850" dirty="0"/>
          </a:p>
        </p:txBody>
      </p:sp>
      <p:sp>
        <p:nvSpPr>
          <p:cNvPr id="56" name="Shape 46"/>
          <p:cNvSpPr/>
          <p:nvPr/>
        </p:nvSpPr>
        <p:spPr>
          <a:xfrm>
            <a:off x="5504688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7" name="Shape 47"/>
          <p:cNvSpPr/>
          <p:nvPr/>
        </p:nvSpPr>
        <p:spPr>
          <a:xfrm>
            <a:off x="5504688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rcRect l="18750" r="21250" b="40000"/>
          <a:stretch>
            <a:fillRect/>
          </a:stretch>
        </p:blipFill>
        <p:spPr>
          <a:xfrm>
            <a:off x="5916168" y="3054096"/>
            <a:ext cx="841248" cy="841248"/>
          </a:xfrm>
          <a:prstGeom prst="ellipse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5559552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Zdeněk Batěk</a:t>
            </a:r>
            <a:endParaRPr lang="en-US" sz="950" dirty="0"/>
          </a:p>
        </p:txBody>
      </p:sp>
      <p:sp>
        <p:nvSpPr>
          <p:cNvPr id="61" name="Text 50"/>
          <p:cNvSpPr/>
          <p:nvPr/>
        </p:nvSpPr>
        <p:spPr>
          <a:xfrm>
            <a:off x="5559552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Purchasing Dir</a:t>
            </a:r>
            <a:endParaRPr lang="en-US" sz="850" dirty="0"/>
          </a:p>
        </p:txBody>
      </p:sp>
      <p:sp>
        <p:nvSpPr>
          <p:cNvPr id="62" name="Shape 51"/>
          <p:cNvSpPr/>
          <p:nvPr/>
        </p:nvSpPr>
        <p:spPr>
          <a:xfrm>
            <a:off x="7278624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3" name="Shape 52"/>
          <p:cNvSpPr/>
          <p:nvPr/>
        </p:nvSpPr>
        <p:spPr>
          <a:xfrm>
            <a:off x="7278624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2"/>
          <a:srcRect l="10000" r="15625" b="25625"/>
          <a:stretch>
            <a:fillRect/>
          </a:stretch>
        </p:blipFill>
        <p:spPr>
          <a:xfrm>
            <a:off x="7690104" y="3054096"/>
            <a:ext cx="841248" cy="841248"/>
          </a:xfrm>
          <a:prstGeom prst="ellipse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7333488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 Svoboda</a:t>
            </a:r>
            <a:endParaRPr lang="en-US" sz="950" dirty="0"/>
          </a:p>
        </p:txBody>
      </p:sp>
      <p:sp>
        <p:nvSpPr>
          <p:cNvPr id="67" name="Text 55"/>
          <p:cNvSpPr/>
          <p:nvPr/>
        </p:nvSpPr>
        <p:spPr>
          <a:xfrm>
            <a:off x="7333488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Mgr Prague</a:t>
            </a:r>
            <a:endParaRPr lang="en-US" sz="850" dirty="0"/>
          </a:p>
        </p:txBody>
      </p:sp>
      <p:sp>
        <p:nvSpPr>
          <p:cNvPr id="68" name="Text 56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profil obsahuje bio, superschopnost, kariérní výzvy a dostupnou kapacitu.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Pohled talenta — od výběru po odeslání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Moderní rozhraní. Žádné e-maily. Talent má vše přehledně na jednom místě.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5029200" cy="384048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AURES   Elite Mentoring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57200" y="1618488"/>
            <a:ext cx="1508760" cy="292608"/>
          </a:xfrm>
          <a:prstGeom prst="rect">
            <a:avLst/>
          </a:prstGeom>
          <a:solidFill>
            <a:srgbClr val="F5ECC0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457200" y="16184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mentorů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29968" y="1618488"/>
            <a:ext cx="1508760" cy="29260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2029968" y="16184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Moje žádosti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02736" y="1618488"/>
            <a:ext cx="1508760" cy="29260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3602736" y="16184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Změna volby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975104"/>
            <a:ext cx="475488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 l="10938" r="6562" b="17500"/>
          <a:stretch>
            <a:fillRect/>
          </a:stretch>
        </p:blipFill>
        <p:spPr>
          <a:xfrm>
            <a:off x="566928" y="2130552"/>
            <a:ext cx="384048" cy="384048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24128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Karolína Topolová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24128" y="2304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co-CEO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24128" y="24688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5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change management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069080" y="2176272"/>
            <a:ext cx="960120" cy="27432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2"/>
          <p:cNvSpPr/>
          <p:nvPr/>
        </p:nvSpPr>
        <p:spPr>
          <a:xfrm>
            <a:off x="4069080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Vybráno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2779776"/>
            <a:ext cx="475488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rcRect l="15937" r="7812" b="23750"/>
          <a:stretch>
            <a:fillRect/>
          </a:stretch>
        </p:blipFill>
        <p:spPr>
          <a:xfrm>
            <a:off x="566928" y="2935224"/>
            <a:ext cx="384048" cy="384048"/>
          </a:xfrm>
          <a:prstGeom prst="ellipse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24128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Hrudník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24128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24128" y="32735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5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Nákupní strategie a expanze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4069080" y="2980944"/>
            <a:ext cx="960120" cy="274320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29"/>
          <p:cNvSpPr/>
          <p:nvPr/>
        </p:nvSpPr>
        <p:spPr>
          <a:xfrm>
            <a:off x="4069080" y="29809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Vybrat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57200" y="3584448"/>
            <a:ext cx="475488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 l="7500" r="9375" b="16875"/>
          <a:stretch>
            <a:fillRect/>
          </a:stretch>
        </p:blipFill>
        <p:spPr>
          <a:xfrm>
            <a:off x="566928" y="3739896"/>
            <a:ext cx="384048" cy="384048"/>
          </a:xfrm>
          <a:prstGeom prst="ellipse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024128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Luboš Vorlík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1024128" y="39136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CZ/SK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1024128" y="4078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5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 motivace týmu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4069080" y="3785616"/>
            <a:ext cx="960120" cy="274320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6"/>
          <p:cNvSpPr/>
          <p:nvPr/>
        </p:nvSpPr>
        <p:spPr>
          <a:xfrm>
            <a:off x="4069080" y="37856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Vybrat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457200" y="44256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+ 7 dalších mentorů...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5532120" y="1234440"/>
            <a:ext cx="475488" cy="475488"/>
          </a:xfrm>
          <a:prstGeom prst="line">
            <a:avLst/>
          </a:prstGeom>
          <a:solidFill>
            <a:srgbClr val="0B2B5E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4" name="Text 39"/>
          <p:cNvSpPr/>
          <p:nvPr/>
        </p:nvSpPr>
        <p:spPr>
          <a:xfrm>
            <a:off x="553212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6108192" y="12527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Vyber mentory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6108192" y="15453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Vybereš 1–3 mentory z katalogu, seřadíš je dle priority.</a:t>
            </a:r>
            <a:endParaRPr lang="en-US" sz="115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1801368"/>
            <a:ext cx="182880" cy="182880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5532120" y="2423160"/>
            <a:ext cx="475488" cy="475488"/>
          </a:xfrm>
          <a:prstGeom prst="line">
            <a:avLst/>
          </a:prstGeom>
          <a:solidFill>
            <a:srgbClr val="0B2B5E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9" name="Text 43"/>
          <p:cNvSpPr/>
          <p:nvPr/>
        </p:nvSpPr>
        <p:spPr>
          <a:xfrm>
            <a:off x="5532120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4"/>
          <p:cNvSpPr/>
          <p:nvPr/>
        </p:nvSpPr>
        <p:spPr>
          <a:xfrm>
            <a:off x="6108192" y="24414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 zprávu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6108192" y="2734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každému mentorovi přidáš osobní zprávu — proč právě on/ona?</a:t>
            </a:r>
            <a:endParaRPr lang="en-US" sz="1150" dirty="0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2990088"/>
            <a:ext cx="182880" cy="182880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5532120" y="3611880"/>
            <a:ext cx="475488" cy="475488"/>
          </a:xfrm>
          <a:prstGeom prst="line">
            <a:avLst/>
          </a:prstGeom>
          <a:solidFill>
            <a:srgbClr val="0B2B5E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4" name="Text 47"/>
          <p:cNvSpPr/>
          <p:nvPr/>
        </p:nvSpPr>
        <p:spPr>
          <a:xfrm>
            <a:off x="553212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48"/>
          <p:cNvSpPr/>
          <p:nvPr/>
        </p:nvSpPr>
        <p:spPr>
          <a:xfrm>
            <a:off x="6108192" y="3630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Odeslej žádost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6108192" y="3922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 automaticky odešle žádost prvnímu mentorovi a sleduje průběh za tebe.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36576"/>
            <a:ext cx="9144000" cy="768096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celý proces funguje?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11480" y="8595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 "propadavani" -- talent nikdy nezustane bez odpovedi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" y="1353312"/>
            <a:ext cx="1417320" cy="1508760"/>
          </a:xfrm>
          <a:prstGeom prst="rect">
            <a:avLst/>
          </a:prstGeom>
          <a:solidFill>
            <a:srgbClr val="D4AF37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93726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</a:rPr>
              <a:t>DR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Reich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321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7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odešle žádost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7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3 prioritami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15668" y="2080260"/>
            <a:ext cx="201168" cy="5486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2043684" y="20162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71700" y="1353312"/>
            <a:ext cx="1417320" cy="1508760"/>
          </a:xfrm>
          <a:prstGeom prst="rect">
            <a:avLst/>
          </a:prstGeom>
          <a:solidFill>
            <a:srgbClr val="153A70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l="10938" r="6562" b="17500"/>
          <a:stretch>
            <a:fillRect/>
          </a:stretch>
        </p:blipFill>
        <p:spPr>
          <a:xfrm>
            <a:off x="2628900" y="1426464"/>
            <a:ext cx="475488" cy="475488"/>
          </a:xfrm>
          <a:prstGeom prst="ellipse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17170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Topolová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24485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volba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Dostane žádost jako první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07308" y="2080260"/>
            <a:ext cx="201168" cy="5486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8"/>
          <p:cNvSpPr/>
          <p:nvPr/>
        </p:nvSpPr>
        <p:spPr>
          <a:xfrm>
            <a:off x="3735324" y="20162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863340" y="1353312"/>
            <a:ext cx="1417320" cy="1508760"/>
          </a:xfrm>
          <a:prstGeom prst="rect">
            <a:avLst/>
          </a:prstGeom>
          <a:solidFill>
            <a:srgbClr val="153A70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15937" r="7812" b="23750"/>
          <a:stretch>
            <a:fillRect/>
          </a:stretch>
        </p:blipFill>
        <p:spPr>
          <a:xfrm>
            <a:off x="4320540" y="1426464"/>
            <a:ext cx="475488" cy="475488"/>
          </a:xfrm>
          <a:prstGeom prst="ellipse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86334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Hrudník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393649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volba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1. odmítne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298948" y="2080260"/>
            <a:ext cx="201168" cy="5486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4"/>
          <p:cNvSpPr/>
          <p:nvPr/>
        </p:nvSpPr>
        <p:spPr>
          <a:xfrm>
            <a:off x="5426964" y="20162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554980" y="1353312"/>
            <a:ext cx="1417320" cy="1508760"/>
          </a:xfrm>
          <a:prstGeom prst="rect">
            <a:avLst/>
          </a:prstGeom>
          <a:solidFill>
            <a:srgbClr val="153A70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 l="7500" r="9375" b="16875"/>
          <a:stretch>
            <a:fillRect/>
          </a:stretch>
        </p:blipFill>
        <p:spPr>
          <a:xfrm>
            <a:off x="6012180" y="1426464"/>
            <a:ext cx="475488" cy="475488"/>
          </a:xfrm>
          <a:prstGeom prst="ellipse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55498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Vorlík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62813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volba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Záložní možnost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990588" y="2080260"/>
            <a:ext cx="201168" cy="5486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0"/>
          <p:cNvSpPr/>
          <p:nvPr/>
        </p:nvSpPr>
        <p:spPr>
          <a:xfrm>
            <a:off x="7118604" y="20162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7246620" y="1353312"/>
            <a:ext cx="1417320" cy="1508760"/>
          </a:xfrm>
          <a:prstGeom prst="rect">
            <a:avLst/>
          </a:prstGeom>
          <a:solidFill>
            <a:srgbClr val="5C2C2C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108" y="1463040"/>
            <a:ext cx="438912" cy="43891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24662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Review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731977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Záchranná síť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najde alternativu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3145536" y="2999232"/>
            <a:ext cx="54864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Shape 35"/>
          <p:cNvSpPr/>
          <p:nvPr/>
        </p:nvSpPr>
        <p:spPr>
          <a:xfrm>
            <a:off x="3145536" y="2999232"/>
            <a:ext cx="2852928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2" name="Shape 36"/>
          <p:cNvSpPr/>
          <p:nvPr/>
        </p:nvSpPr>
        <p:spPr>
          <a:xfrm>
            <a:off x="5943600" y="2999232"/>
            <a:ext cx="54864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Text 37"/>
          <p:cNvSpPr/>
          <p:nvPr/>
        </p:nvSpPr>
        <p:spPr>
          <a:xfrm>
            <a:off x="2926080" y="354787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Schváleno — HR i talent dostane notifikaci — plánování schůzky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Veškeré notifikace jdou automaticky na HR. Mentoři reagují jediným kliknutím.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Pohled mentora — minimum práce, maximum přehledu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vidí žádost teprve tehdy, kdy je skutečně na řadě.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5029200" cy="384048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10938" r="6562" b="17500"/>
          <a:stretch>
            <a:fillRect/>
          </a:stretch>
        </p:blipFill>
        <p:spPr>
          <a:xfrm>
            <a:off x="438912" y="1197864"/>
            <a:ext cx="310896" cy="310896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188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Topolová  —  Mentor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1554480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457200" y="1618488"/>
            <a:ext cx="2331720" cy="292608"/>
          </a:xfrm>
          <a:prstGeom prst="rect">
            <a:avLst/>
          </a:prstGeom>
          <a:solidFill>
            <a:srgbClr val="F5ECC0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/>
          <p:nvPr/>
        </p:nvSpPr>
        <p:spPr>
          <a:xfrm>
            <a:off x="457200" y="1618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Čekající žádosti  🔴 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80360" y="1618488"/>
            <a:ext cx="2331720" cy="29260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4"/>
          <p:cNvSpPr/>
          <p:nvPr/>
        </p:nvSpPr>
        <p:spPr>
          <a:xfrm>
            <a:off x="2880360" y="1618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Moje rozhodnutí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1993392"/>
            <a:ext cx="4754880" cy="120700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7"/>
          <p:cNvSpPr/>
          <p:nvPr/>
        </p:nvSpPr>
        <p:spPr>
          <a:xfrm>
            <a:off x="54864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</a:rPr>
              <a:t>JP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7840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Pospíšil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"Chci se od vás naučit change management. Vidím vás jako ideálního mentora pro svůj rozvoj."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749040" y="2286000"/>
            <a:ext cx="841248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1"/>
          <p:cNvSpPr/>
          <p:nvPr/>
        </p:nvSpPr>
        <p:spPr>
          <a:xfrm>
            <a:off x="3749040" y="22860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✔ Schválit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749040" y="2633472"/>
            <a:ext cx="841248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3"/>
          <p:cNvSpPr/>
          <p:nvPr/>
        </p:nvSpPr>
        <p:spPr>
          <a:xfrm>
            <a:off x="3749040" y="2633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✕ Odmítnout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3328416"/>
            <a:ext cx="4754880" cy="120700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6"/>
          <p:cNvSpPr/>
          <p:nvPr/>
        </p:nvSpPr>
        <p:spPr>
          <a:xfrm>
            <a:off x="54864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</a:rPr>
              <a:t>MP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78408" y="3419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Miroslav Pařík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37124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"Zajímá mě váš pohled na networking a propojování lidí. Ráda bych pochopila, jak to děláte..."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749040" y="3621024"/>
            <a:ext cx="841248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0"/>
          <p:cNvSpPr/>
          <p:nvPr/>
        </p:nvSpPr>
        <p:spPr>
          <a:xfrm>
            <a:off x="3749040" y="36210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✔ Schválit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749040" y="3968496"/>
            <a:ext cx="841248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2"/>
          <p:cNvSpPr/>
          <p:nvPr/>
        </p:nvSpPr>
        <p:spPr>
          <a:xfrm>
            <a:off x="3749040" y="396849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✕ Odmítnout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669280" y="1261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je to jednoduché pro mentory</a:t>
            </a:r>
            <a:endParaRPr lang="en-US" sz="14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755648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108192" y="1709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 jen žádosti, které jsou na něm -- žádný info-noise</a:t>
            </a:r>
            <a:endParaRPr lang="en-US" sz="12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596896"/>
            <a:ext cx="347472" cy="34747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108192" y="25511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Jediné kliknutí pro schválení nebo odmítnutí</a:t>
            </a:r>
            <a:endParaRPr lang="en-US" sz="120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3438144"/>
            <a:ext cx="347472" cy="34747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108192" y="33924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dostane notifikaci automaticky za každý krok</a:t>
            </a:r>
            <a:endParaRPr lang="en-US" sz="12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4279392"/>
            <a:ext cx="347472" cy="34747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108192" y="42336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Historie rozhodnutí vždy k dispozici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panel — kompletní přehled a kontrola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vidí celý proces. Přehledně. Bez e-mailového chaosu.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627632" cy="32918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Mentees dashboard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48256" y="1234440"/>
            <a:ext cx="162763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93976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Domluvené mentoringy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30752" y="1234440"/>
            <a:ext cx="162763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776472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mentorů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13248" y="1234440"/>
            <a:ext cx="162763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5458968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talentů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95744" y="1234440"/>
            <a:ext cx="162763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7141464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Kapacitní dashboard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1563624"/>
            <a:ext cx="841248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365760" y="1719072"/>
            <a:ext cx="1920240" cy="96012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365760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65760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</a:rPr>
              <a:t>Celkem žádostí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487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F37"/>
                </a:solidFill>
              </a:rPr>
              <a:t>v aktuálním cyklu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50592" y="1719072"/>
            <a:ext cx="1920240" cy="960120"/>
          </a:xfrm>
          <a:prstGeom prst="rect">
            <a:avLst/>
          </a:prstGeom>
          <a:solidFill>
            <a:srgbClr val="553300"/>
          </a:solidFill>
          <a:ln w="12700">
            <a:solidFill>
              <a:srgbClr val="553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2450592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EC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2450592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ECC0"/>
                </a:solidFill>
              </a:rPr>
              <a:t>Čeká na rozhodnutí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50592" y="2487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ECC0"/>
                </a:solidFill>
              </a:rPr>
              <a:t>u mentorů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2816352"/>
            <a:ext cx="1920240" cy="9601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365760" y="2907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365760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Schváleno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3584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aktivních mentoringů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50592" y="2816352"/>
            <a:ext cx="1920240" cy="960120"/>
          </a:xfrm>
          <a:prstGeom prst="rect">
            <a:avLst/>
          </a:prstGeom>
          <a:solidFill>
            <a:srgbClr val="882222"/>
          </a:solidFill>
          <a:ln w="12700">
            <a:solidFill>
              <a:srgbClr val="8822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2450592" y="2907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2450592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HR Review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50592" y="3584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vyžaduje pozornost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63440" y="16916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5E"/>
                </a:solidFill>
              </a:rPr>
              <a:t>Co HR Admin vidí a ovládá</a:t>
            </a:r>
            <a:endParaRPr lang="en-US" sz="14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103120"/>
            <a:ext cx="292608" cy="29260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47488" y="20665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Filtrování a vyhledávání v mentees</a:t>
            </a:r>
            <a:endParaRPr lang="en-US" sz="12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743200"/>
            <a:ext cx="292608" cy="29260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047488" y="27066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Plný audit trail každého rozhodnutí</a:t>
            </a:r>
            <a:endParaRPr lang="en-US" sz="12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383280"/>
            <a:ext cx="292608" cy="29260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047488" y="3346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talentů — aktivní/neaktivní</a:t>
            </a:r>
            <a:endParaRPr lang="en-US" sz="12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023360"/>
            <a:ext cx="292608" cy="29260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047488" y="3986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mentorů — přidávání, editace, foto</a:t>
            </a:r>
            <a:endParaRPr lang="en-US" sz="12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663440"/>
            <a:ext cx="292608" cy="29260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047488" y="46268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Kapacitní dashboard — kdo je vytížen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36576"/>
            <a:ext cx="9144000" cy="768096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z toho profituje?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11480" y="8595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přináší hodnotu na každé úrovni organizace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2715768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271576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4475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9768" y="1956816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Talenti (Mentees)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9768" y="2377440"/>
            <a:ext cx="2496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Přístup k lídrům, kteří jsou jinak nedostupní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Jasný přehled o stavu své žádosti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Respektující a důstojné rozhraní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Nikdy nezůstanou bez odpovědi (záchranná síť HR)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0" y="1298448"/>
            <a:ext cx="2715768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71576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4475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1956816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Mentoři (Management)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10128" y="2377440"/>
            <a:ext cx="2496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Minimální časová zátěž -- 1 klik pro rozhodnutí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 jen to, co je relevantní pro ně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urgence e-mailem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Mohou aktivně formovat talenty firmy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80760" y="1298448"/>
            <a:ext cx="2715768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5"/>
          <p:cNvSpPr/>
          <p:nvPr/>
        </p:nvSpPr>
        <p:spPr>
          <a:xfrm>
            <a:off x="6080760" y="1298448"/>
            <a:ext cx="271576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44475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0488" y="1956816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90488" y="2377440"/>
            <a:ext cx="2496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Kompletní přehled a audit trail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ruční přeposílání žádostí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 strategické HR plánování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Záchranná síť -- nikdo nezůstane bez mentora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je provoz jednoduchý a efektivní?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Zero-overhead architektura -- žádné další náklady, žádné nové systémy.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26060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463040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24505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extra náklady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2944368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běží přímo v SharePointu Aures Holdings. Nevyžaduje žádné nové servery, databáze ani placené Power Automate toky.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2984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3291840" y="1298448"/>
            <a:ext cx="26060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463040"/>
            <a:ext cx="566928" cy="5669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01568" y="24505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 v prohlížeči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56432" y="2944368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Celá business logika (fall-through, notifikace, rozhodování) běží přímo v aplikaci bez externího backendu.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12984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5"/>
          <p:cNvSpPr/>
          <p:nvPr/>
        </p:nvSpPr>
        <p:spPr>
          <a:xfrm>
            <a:off x="6126480" y="1298448"/>
            <a:ext cx="26060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463040"/>
            <a:ext cx="566928" cy="5669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6208" y="24505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Rychlé nasazení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91072" y="2944368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je připravena ve formátu .sppkg a předána IT týmu k nasazení do App Catalogu SharePointu.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" y="4773168"/>
            <a:ext cx="8412480" cy="301752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19"/>
          <p:cNvSpPr/>
          <p:nvPr/>
        </p:nvSpPr>
        <p:spPr>
          <a:xfrm>
            <a:off x="457200" y="47731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Přístup je řízen přes SharePoint Groups — IT nepotřebuje pro každého nového talenta žádný zásah do kódu.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36576"/>
            <a:ext cx="4572000" cy="5070348"/>
          </a:xfrm>
          <a:prstGeom prst="rect">
            <a:avLst/>
          </a:prstGeom>
          <a:solidFill>
            <a:srgbClr val="153A70"/>
          </a:solidFill>
          <a:ln w="12700">
            <a:solidFill>
              <a:srgbClr val="153A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553712" y="36576"/>
            <a:ext cx="73152" cy="50703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Talenti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548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vybraných zaměstnanců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393192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Gruber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1201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Blažková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32588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20040" y="13258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Svoboda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15316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Reich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173736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2004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Dušan Procházka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19431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Matuška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14884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320040" y="2148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Pospíšil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23545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Strouhal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56032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320040" y="2560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Kryl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27660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Jarosław Skiba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297180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320040" y="2971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Jiří Kamír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1775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Lucie Horáčková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38328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320040" y="33832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 Ronge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9144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Marek Blahák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31720" y="11201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Janovský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Šimánek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15316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Michal Gabrhel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31720" y="17373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Miroslav Pařík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31720" y="19431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Ondřej Kratochvíl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2148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 Kuchynka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31720" y="23545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 Šanda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31720" y="25603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 Šulc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31720" y="27660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Šmol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31720" y="2971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Stanislav Otčenášek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331720" y="31775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Tomáš Kaprálek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31720" y="3383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Tomáš Preus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526280"/>
            <a:ext cx="100584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Text 41"/>
          <p:cNvSpPr/>
          <p:nvPr/>
        </p:nvSpPr>
        <p:spPr>
          <a:xfrm>
            <a:off x="274320" y="4526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1732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Mentoring  ·  HR projekt 2026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256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Další kroky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4892040" y="914400"/>
            <a:ext cx="457200" cy="457200"/>
          </a:xfrm>
          <a:prstGeom prst="lin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48920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86400" y="960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(L2) vytvoří SharePoint listy dle specifikace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093208" y="1371600"/>
            <a:ext cx="45720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4892040" y="1920240"/>
            <a:ext cx="457200" cy="457200"/>
          </a:xfrm>
          <a:prstGeom prst="lin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Text 49"/>
          <p:cNvSpPr/>
          <p:nvPr/>
        </p:nvSpPr>
        <p:spPr>
          <a:xfrm>
            <a:off x="48920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48640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připraví seznam Talentů a aktivuje Mentory v systému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093208" y="2377440"/>
            <a:ext cx="45720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4892040" y="2926080"/>
            <a:ext cx="457200" cy="457200"/>
          </a:xfrm>
          <a:prstGeom prst="lin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Text 53"/>
          <p:cNvSpPr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48640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nasadí .sppkg balíček do App Catalogu (SHP tým)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5093208" y="3383280"/>
            <a:ext cx="45720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4892040" y="3931920"/>
            <a:ext cx="457200" cy="457200"/>
          </a:xfrm>
          <a:prstGeom prst="lin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Text 57"/>
          <p:cNvSpPr/>
          <p:nvPr/>
        </p:nvSpPr>
        <p:spPr>
          <a:xfrm>
            <a:off x="48920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486400" y="3977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Testování na dev site — finální přijetí a spuštění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4754880" y="4572000"/>
            <a:ext cx="406908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/>
          <p:nvPr/>
        </p:nvSpPr>
        <p:spPr>
          <a:xfrm>
            <a:off x="4754880" y="45720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Připraveno k nasazení. Čekáme na prostředí od IT.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904</Words>
  <Application>Microsoft Office PowerPoint</Application>
  <PresentationFormat>Předvádění na obrazovce (16:9)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Aures Elite Mentoring</dc:title>
  <dc:subject>PptxGenJS Presentation</dc:subject>
  <dc:creator>PptxGenJS</dc:creator>
  <cp:lastModifiedBy>Ondrej Dolejs</cp:lastModifiedBy>
  <cp:revision>6</cp:revision>
  <dcterms:created xsi:type="dcterms:W3CDTF">2026-03-14T16:09:58Z</dcterms:created>
  <dcterms:modified xsi:type="dcterms:W3CDTF">2026-03-16T06:27:14Z</dcterms:modified>
</cp:coreProperties>
</file>